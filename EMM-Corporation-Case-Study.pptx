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8" r:id="rId3"/>
    <p:sldId id="257" r:id="rId4"/>
    <p:sldId id="259" r:id="rId5"/>
    <p:sldId id="261" r:id="rId6"/>
    <p:sldId id="262" r:id="rId7"/>
    <p:sldId id="263" r:id="rId8"/>
    <p:sldId id="264" r:id="rId9"/>
    <p:sldId id="265" r:id="rId10"/>
    <p:sldId id="266" r:id="rId11"/>
  </p:sldIdLst>
  <p:sldSz cx="12192000" cy="6858000"/>
  <p:notesSz cx="6858000" cy="12192000"/>
  <p:embeddedFontLst>
    <p:embeddedFont>
      <p:font typeface="Calibri" pitchFamily="34" charset="0"/>
      <p:regular r:id="rId13"/>
      <p:bold r:id="rId14"/>
      <p:italic r:id="rId15"/>
      <p:boldItalic r:id="rId16"/>
    </p:embeddedFont>
    <p:embeddedFont>
      <p:font typeface="Space Grotesk Bold" charset="0"/>
      <p:regular r:id="rId17"/>
    </p:embeddedFont>
    <p:embeddedFont>
      <p:font typeface="Source Sans 3" charset="0"/>
      <p:regular r:id="rId18"/>
    </p:embeddedFont>
    <p:embeddedFont>
      <p:font typeface="Space Grotesk Medium" charset="0"/>
      <p:regular r:id="rId19"/>
    </p:embeddedFont>
    <p:embeddedFont>
      <p:font typeface="Source Sans 3 Bold" charset="0"/>
      <p:regular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0" d="100"/>
          <a:sy n="90" d="100"/>
        </p:scale>
        <p:origin x="-370" y="-67"/>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a:prstGeom prst="rect">
            <a:avLst/>
          </a:prstGeom>
        </p:spPr>
      </p:sp>
      <p:sp>
        <p:nvSpPr>
          <p:cNvPr id="3" name="Notes Placeholder 2"/>
          <p:cNvSpPr>
            <a:spLocks noGrp="1"/>
          </p:cNvSpPr>
          <p:nvPr>
            <p:ph type="body" idx="1"/>
          </p:nvPr>
        </p:nvSpPr>
        <p:spPr>
          <a:xfrm>
            <a:off x="685800" y="5791200"/>
            <a:ext cx="5486400" cy="5486400"/>
          </a:xfrm>
          <a:prstGeom prst="rect">
            <a:avLst/>
          </a:prstGeom>
        </p:spPr>
        <p:txBody>
          <a:bodyPr/>
          <a:lstStyle/>
          <a:p>
            <a:endParaRPr lang="en-US" dirty="0"/>
          </a:p>
        </p:txBody>
      </p:sp>
      <p:sp>
        <p:nvSpPr>
          <p:cNvPr id="4" name="Slide Number Placeholder 3"/>
          <p:cNvSpPr>
            <a:spLocks noGrp="1"/>
          </p:cNvSpPr>
          <p:nvPr>
            <p:ph type="sldNum" sz="quarter" idx="10"/>
          </p:nvPr>
        </p:nvSpPr>
        <p:spPr>
          <a:xfrm>
            <a:off x="3884613" y="11580813"/>
            <a:ext cx="2971800" cy="609600"/>
          </a:xfrm>
          <a:prstGeom prst="rect">
            <a:avLst/>
          </a:prstGeom>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a:prstGeom prst="rect">
            <a:avLst/>
          </a:prstGeom>
        </p:spPr>
      </p:sp>
      <p:sp>
        <p:nvSpPr>
          <p:cNvPr id="3" name="Notes Placeholder 2"/>
          <p:cNvSpPr>
            <a:spLocks noGrp="1"/>
          </p:cNvSpPr>
          <p:nvPr>
            <p:ph type="body" idx="1"/>
          </p:nvPr>
        </p:nvSpPr>
        <p:spPr>
          <a:xfrm>
            <a:off x="685800" y="5791200"/>
            <a:ext cx="5486400" cy="5486400"/>
          </a:xfrm>
          <a:prstGeom prst="rect">
            <a:avLst/>
          </a:prstGeom>
        </p:spPr>
        <p:txBody>
          <a:bodyPr/>
          <a:lstStyle/>
          <a:p>
            <a:endParaRPr lang="en-US" dirty="0"/>
          </a:p>
        </p:txBody>
      </p:sp>
      <p:sp>
        <p:nvSpPr>
          <p:cNvPr id="4" name="Slide Number Placeholder 3"/>
          <p:cNvSpPr>
            <a:spLocks noGrp="1"/>
          </p:cNvSpPr>
          <p:nvPr>
            <p:ph type="sldNum" sz="quarter" idx="10"/>
          </p:nvPr>
        </p:nvSpPr>
        <p:spPr>
          <a:xfrm>
            <a:off x="3884613" y="11580813"/>
            <a:ext cx="2971800" cy="609600"/>
          </a:xfrm>
          <a:prstGeom prst="rect">
            <a:avLst/>
          </a:prstGeom>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a:prstGeom prst="rect">
            <a:avLst/>
          </a:prstGeom>
        </p:spPr>
      </p:sp>
      <p:sp>
        <p:nvSpPr>
          <p:cNvPr id="3" name="Notes Placeholder 2"/>
          <p:cNvSpPr>
            <a:spLocks noGrp="1"/>
          </p:cNvSpPr>
          <p:nvPr>
            <p:ph type="body" idx="1"/>
          </p:nvPr>
        </p:nvSpPr>
        <p:spPr>
          <a:xfrm>
            <a:off x="685800" y="5791200"/>
            <a:ext cx="5486400" cy="5486400"/>
          </a:xfrm>
          <a:prstGeom prst="rect">
            <a:avLst/>
          </a:prstGeom>
        </p:spPr>
        <p:txBody>
          <a:bodyPr/>
          <a:lstStyle/>
          <a:p>
            <a:endParaRPr lang="en-US" dirty="0"/>
          </a:p>
        </p:txBody>
      </p:sp>
      <p:sp>
        <p:nvSpPr>
          <p:cNvPr id="4" name="Slide Number Placeholder 3"/>
          <p:cNvSpPr>
            <a:spLocks noGrp="1"/>
          </p:cNvSpPr>
          <p:nvPr>
            <p:ph type="sldNum" sz="quarter" idx="10"/>
          </p:nvPr>
        </p:nvSpPr>
        <p:spPr>
          <a:xfrm>
            <a:off x="3884613" y="11580813"/>
            <a:ext cx="2971800" cy="609600"/>
          </a:xfrm>
          <a:prstGeom prst="rect">
            <a:avLst/>
          </a:prstGeom>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a:prstGeom prst="rect">
            <a:avLst/>
          </a:prstGeom>
        </p:spPr>
      </p:sp>
      <p:sp>
        <p:nvSpPr>
          <p:cNvPr id="3" name="Notes Placeholder 2"/>
          <p:cNvSpPr>
            <a:spLocks noGrp="1"/>
          </p:cNvSpPr>
          <p:nvPr>
            <p:ph type="body" idx="1"/>
          </p:nvPr>
        </p:nvSpPr>
        <p:spPr>
          <a:xfrm>
            <a:off x="685800" y="5791200"/>
            <a:ext cx="5486400" cy="5486400"/>
          </a:xfrm>
          <a:prstGeom prst="rect">
            <a:avLst/>
          </a:prstGeom>
        </p:spPr>
        <p:txBody>
          <a:bodyPr/>
          <a:lstStyle/>
          <a:p>
            <a:endParaRPr lang="en-US" dirty="0"/>
          </a:p>
        </p:txBody>
      </p:sp>
      <p:sp>
        <p:nvSpPr>
          <p:cNvPr id="4" name="Slide Number Placeholder 3"/>
          <p:cNvSpPr>
            <a:spLocks noGrp="1"/>
          </p:cNvSpPr>
          <p:nvPr>
            <p:ph type="sldNum" sz="quarter" idx="10"/>
          </p:nvPr>
        </p:nvSpPr>
        <p:spPr>
          <a:xfrm>
            <a:off x="3884613" y="11580813"/>
            <a:ext cx="2971800" cy="609600"/>
          </a:xfrm>
          <a:prstGeom prst="rect">
            <a:avLst/>
          </a:prstGeom>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a:prstGeom prst="rect">
            <a:avLst/>
          </a:prstGeom>
        </p:spPr>
      </p:sp>
      <p:sp>
        <p:nvSpPr>
          <p:cNvPr id="3" name="Notes Placeholder 2"/>
          <p:cNvSpPr>
            <a:spLocks noGrp="1"/>
          </p:cNvSpPr>
          <p:nvPr>
            <p:ph type="body" idx="1"/>
          </p:nvPr>
        </p:nvSpPr>
        <p:spPr>
          <a:xfrm>
            <a:off x="685800" y="5791200"/>
            <a:ext cx="5486400" cy="5486400"/>
          </a:xfrm>
          <a:prstGeom prst="rect">
            <a:avLst/>
          </a:prstGeom>
        </p:spPr>
        <p:txBody>
          <a:bodyPr/>
          <a:lstStyle/>
          <a:p>
            <a:endParaRPr lang="en-US" dirty="0"/>
          </a:p>
        </p:txBody>
      </p:sp>
      <p:sp>
        <p:nvSpPr>
          <p:cNvPr id="4" name="Slide Number Placeholder 3"/>
          <p:cNvSpPr>
            <a:spLocks noGrp="1"/>
          </p:cNvSpPr>
          <p:nvPr>
            <p:ph type="sldNum" sz="quarter" idx="10"/>
          </p:nvPr>
        </p:nvSpPr>
        <p:spPr>
          <a:xfrm>
            <a:off x="3884613" y="11580813"/>
            <a:ext cx="2971800" cy="609600"/>
          </a:xfrm>
          <a:prstGeom prst="rect">
            <a:avLst/>
          </a:prstGeom>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a:prstGeom prst="rect">
            <a:avLst/>
          </a:prstGeom>
        </p:spPr>
      </p:sp>
      <p:sp>
        <p:nvSpPr>
          <p:cNvPr id="3" name="Notes Placeholder 2"/>
          <p:cNvSpPr>
            <a:spLocks noGrp="1"/>
          </p:cNvSpPr>
          <p:nvPr>
            <p:ph type="body" idx="1"/>
          </p:nvPr>
        </p:nvSpPr>
        <p:spPr>
          <a:xfrm>
            <a:off x="685800" y="5791200"/>
            <a:ext cx="5486400" cy="5486400"/>
          </a:xfrm>
          <a:prstGeom prst="rect">
            <a:avLst/>
          </a:prstGeom>
        </p:spPr>
        <p:txBody>
          <a:bodyPr/>
          <a:lstStyle/>
          <a:p>
            <a:endParaRPr lang="en-US" dirty="0"/>
          </a:p>
        </p:txBody>
      </p:sp>
      <p:sp>
        <p:nvSpPr>
          <p:cNvPr id="4" name="Slide Number Placeholder 3"/>
          <p:cNvSpPr>
            <a:spLocks noGrp="1"/>
          </p:cNvSpPr>
          <p:nvPr>
            <p:ph type="sldNum" sz="quarter" idx="10"/>
          </p:nvPr>
        </p:nvSpPr>
        <p:spPr>
          <a:xfrm>
            <a:off x="3884613" y="11580813"/>
            <a:ext cx="2971800" cy="609600"/>
          </a:xfrm>
          <a:prstGeom prst="rect">
            <a:avLst/>
          </a:prstGeom>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a:prstGeom prst="rect">
            <a:avLst/>
          </a:prstGeom>
        </p:spPr>
      </p:sp>
      <p:sp>
        <p:nvSpPr>
          <p:cNvPr id="3" name="Notes Placeholder 2"/>
          <p:cNvSpPr>
            <a:spLocks noGrp="1"/>
          </p:cNvSpPr>
          <p:nvPr>
            <p:ph type="body" idx="1"/>
          </p:nvPr>
        </p:nvSpPr>
        <p:spPr>
          <a:xfrm>
            <a:off x="685800" y="5791200"/>
            <a:ext cx="5486400" cy="5486400"/>
          </a:xfrm>
          <a:prstGeom prst="rect">
            <a:avLst/>
          </a:prstGeom>
        </p:spPr>
        <p:txBody>
          <a:bodyPr/>
          <a:lstStyle/>
          <a:p>
            <a:endParaRPr lang="en-US" dirty="0"/>
          </a:p>
        </p:txBody>
      </p:sp>
      <p:sp>
        <p:nvSpPr>
          <p:cNvPr id="4" name="Slide Number Placeholder 3"/>
          <p:cNvSpPr>
            <a:spLocks noGrp="1"/>
          </p:cNvSpPr>
          <p:nvPr>
            <p:ph type="sldNum" sz="quarter" idx="10"/>
          </p:nvPr>
        </p:nvSpPr>
        <p:spPr>
          <a:xfrm>
            <a:off x="3884613" y="11580813"/>
            <a:ext cx="2971800" cy="609600"/>
          </a:xfrm>
          <a:prstGeom prst="rect">
            <a:avLst/>
          </a:prstGeom>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a:prstGeom prst="rect">
            <a:avLst/>
          </a:prstGeom>
        </p:spPr>
      </p:sp>
      <p:sp>
        <p:nvSpPr>
          <p:cNvPr id="3" name="Notes Placeholder 2"/>
          <p:cNvSpPr>
            <a:spLocks noGrp="1"/>
          </p:cNvSpPr>
          <p:nvPr>
            <p:ph type="body" idx="1"/>
          </p:nvPr>
        </p:nvSpPr>
        <p:spPr>
          <a:xfrm>
            <a:off x="685800" y="5791200"/>
            <a:ext cx="5486400" cy="5486400"/>
          </a:xfrm>
          <a:prstGeom prst="rect">
            <a:avLst/>
          </a:prstGeom>
        </p:spPr>
        <p:txBody>
          <a:bodyPr/>
          <a:lstStyle/>
          <a:p>
            <a:endParaRPr lang="en-US" dirty="0"/>
          </a:p>
        </p:txBody>
      </p:sp>
      <p:sp>
        <p:nvSpPr>
          <p:cNvPr id="4" name="Slide Number Placeholder 3"/>
          <p:cNvSpPr>
            <a:spLocks noGrp="1"/>
          </p:cNvSpPr>
          <p:nvPr>
            <p:ph type="sldNum" sz="quarter" idx="10"/>
          </p:nvPr>
        </p:nvSpPr>
        <p:spPr>
          <a:xfrm>
            <a:off x="3884613" y="11580813"/>
            <a:ext cx="2971800" cy="609600"/>
          </a:xfrm>
          <a:prstGeom prst="rect">
            <a:avLst/>
          </a:prstGeom>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a:prstGeom prst="rect">
            <a:avLst/>
          </a:prstGeom>
        </p:spPr>
      </p:sp>
      <p:sp>
        <p:nvSpPr>
          <p:cNvPr id="3" name="Notes Placeholder 2"/>
          <p:cNvSpPr>
            <a:spLocks noGrp="1"/>
          </p:cNvSpPr>
          <p:nvPr>
            <p:ph type="body" idx="1"/>
          </p:nvPr>
        </p:nvSpPr>
        <p:spPr>
          <a:xfrm>
            <a:off x="685800" y="5791200"/>
            <a:ext cx="5486400" cy="5486400"/>
          </a:xfrm>
          <a:prstGeom prst="rect">
            <a:avLst/>
          </a:prstGeom>
        </p:spPr>
        <p:txBody>
          <a:bodyPr/>
          <a:lstStyle/>
          <a:p>
            <a:endParaRPr lang="en-US" dirty="0"/>
          </a:p>
        </p:txBody>
      </p:sp>
      <p:sp>
        <p:nvSpPr>
          <p:cNvPr id="4" name="Slide Number Placeholder 3"/>
          <p:cNvSpPr>
            <a:spLocks noGrp="1"/>
          </p:cNvSpPr>
          <p:nvPr>
            <p:ph type="sldNum" sz="quarter" idx="10"/>
          </p:nvPr>
        </p:nvSpPr>
        <p:spPr>
          <a:xfrm>
            <a:off x="3884613" y="11580813"/>
            <a:ext cx="2971800" cy="609600"/>
          </a:xfrm>
          <a:prstGeom prst="rect">
            <a:avLst/>
          </a:prstGeom>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hyperlink" Target="https://gamma.app/?utm_source=made-with-gamma"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F1416"/>
          </a:solidFill>
          <a:ln/>
        </p:spPr>
      </p:sp>
      <p:pic>
        <p:nvPicPr>
          <p:cNvPr id="4" name="Image 1" descr="preencoded.png"/>
          <p:cNvPicPr>
            <a:picLocks noChangeAspect="1"/>
          </p:cNvPicPr>
          <p:nvPr/>
        </p:nvPicPr>
        <p:blipFill>
          <a:blip r:embed="rId3"/>
          <a:stretch>
            <a:fillRect/>
          </a:stretch>
        </p:blipFill>
        <p:spPr>
          <a:xfrm>
            <a:off x="0" y="0"/>
            <a:ext cx="12191695" cy="6858000"/>
          </a:xfrm>
          <a:prstGeom prst="rect">
            <a:avLst/>
          </a:prstGeom>
        </p:spPr>
      </p:pic>
      <p:sp>
        <p:nvSpPr>
          <p:cNvPr id="5" name="Shape 1"/>
          <p:cNvSpPr/>
          <p:nvPr/>
        </p:nvSpPr>
        <p:spPr>
          <a:xfrm>
            <a:off x="0" y="0"/>
            <a:ext cx="12191695" cy="6858000"/>
          </a:xfrm>
          <a:prstGeom prst="rect">
            <a:avLst/>
          </a:prstGeom>
          <a:solidFill>
            <a:srgbClr val="0F1416">
              <a:alpha val="80000"/>
            </a:srgbClr>
          </a:solidFill>
          <a:ln/>
        </p:spPr>
      </p:sp>
      <p:pic>
        <p:nvPicPr>
          <p:cNvPr id="6" name="Image 2" descr="preencoded.png">
            <a:hlinkClick r:id="rId4"/>
          </p:cNvPr>
          <p:cNvPicPr>
            <a:picLocks noChangeAspect="1"/>
          </p:cNvPicPr>
          <p:nvPr/>
        </p:nvPicPr>
        <p:blipFill>
          <a:blip r:embed="rId5"/>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jpeg"/><Relationship Id="rId7" Type="http://schemas.openxmlformats.org/officeDocument/2006/relationships/image" Target="../media/image-1-5.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3.svg"/><Relationship Id="rId4" Type="http://schemas.openxmlformats.org/officeDocument/2006/relationships/image" Target="../media/image8.png"/><Relationship Id="rId9" Type="http://schemas.openxmlformats.org/officeDocument/2006/relationships/image" Target="../media/image-1-7.sv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11.svg"/><Relationship Id="rId3" Type="http://schemas.openxmlformats.org/officeDocument/2006/relationships/image" Target="../media/image11.png"/><Relationship Id="rId7" Type="http://schemas.openxmlformats.org/officeDocument/2006/relationships/image" Target="../media/image-1-5.svg"/><Relationship Id="rId12"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9.svg"/><Relationship Id="rId5" Type="http://schemas.openxmlformats.org/officeDocument/2006/relationships/image" Target="../media/image-1-3.svg"/><Relationship Id="rId10" Type="http://schemas.openxmlformats.org/officeDocument/2006/relationships/image" Target="../media/image15.png"/><Relationship Id="rId4" Type="http://schemas.openxmlformats.org/officeDocument/2006/relationships/image" Target="../media/image12.png"/><Relationship Id="rId9" Type="http://schemas.openxmlformats.org/officeDocument/2006/relationships/image" Target="../media/image-1-7.sv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jpe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828899"/>
            <a:ext cx="11478330" cy="248047"/>
          </a:xfrm>
          <a:prstGeom prst="rect">
            <a:avLst/>
          </a:prstGeom>
          <a:noFill/>
          <a:ln/>
        </p:spPr>
        <p:txBody>
          <a:bodyPr wrap="none" lIns="0" tIns="0" rIns="0" bIns="0" rtlCol="0" anchor="t"/>
          <a:lstStyle/>
          <a:p>
            <a:pPr marL="0" indent="0" algn="l">
              <a:lnSpc>
                <a:spcPct val="125000"/>
              </a:lnSpc>
              <a:buNone/>
            </a:pPr>
            <a:endParaRPr lang="en-US" sz="1300" dirty="0"/>
          </a:p>
        </p:txBody>
      </p:sp>
      <p:sp>
        <p:nvSpPr>
          <p:cNvPr id="3" name="Text 1"/>
          <p:cNvSpPr/>
          <p:nvPr/>
        </p:nvSpPr>
        <p:spPr>
          <a:xfrm>
            <a:off x="661475" y="2242245"/>
            <a:ext cx="10868745" cy="2232819"/>
          </a:xfrm>
          <a:prstGeom prst="rect">
            <a:avLst/>
          </a:prstGeom>
          <a:noFill/>
          <a:ln/>
        </p:spPr>
        <p:txBody>
          <a:bodyPr wrap="square" lIns="0" tIns="0" rIns="0" bIns="0" rtlCol="0" anchor="t">
            <a:normAutofit/>
          </a:bodyPr>
          <a:lstStyle/>
          <a:p>
            <a:pPr marL="0" indent="0" algn="ctr">
              <a:lnSpc>
                <a:spcPct val="83000"/>
              </a:lnSpc>
              <a:buNone/>
            </a:pPr>
            <a:r>
              <a:rPr lang="en-US" sz="8750" b="1" dirty="0">
                <a:solidFill>
                  <a:srgbClr val="FFFFFF"/>
                </a:solidFill>
                <a:latin typeface="Space Grotesk Bold" pitchFamily="34" charset="0"/>
                <a:ea typeface="Space Grotesk Bold" pitchFamily="34" charset="-122"/>
                <a:cs typeface="Space Grotesk Bold" pitchFamily="34" charset="-120"/>
              </a:rPr>
              <a:t>Global EMM Corporation</a:t>
            </a:r>
            <a:endParaRPr lang="en-US" sz="8750" dirty="0"/>
          </a:p>
        </p:txBody>
      </p:sp>
      <p:pic>
        <p:nvPicPr>
          <p:cNvPr id="4" name="Image 0" descr="preencoded.png"/>
          <p:cNvPicPr>
            <a:picLocks noChangeAspect="1"/>
          </p:cNvPicPr>
          <p:nvPr/>
        </p:nvPicPr>
        <p:blipFill>
          <a:blip r:embed="rId3"/>
          <a:stretch>
            <a:fillRect/>
          </a:stretch>
        </p:blipFill>
        <p:spPr>
          <a:xfrm>
            <a:off x="5070646" y="4723110"/>
            <a:ext cx="2050403" cy="4548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828899"/>
            <a:ext cx="11478330" cy="248047"/>
          </a:xfrm>
          <a:prstGeom prst="rect">
            <a:avLst/>
          </a:prstGeom>
          <a:noFill/>
          <a:ln/>
        </p:spPr>
        <p:txBody>
          <a:bodyPr wrap="none" lIns="0" tIns="0" rIns="0" bIns="0" rtlCol="0" anchor="t"/>
          <a:lstStyle/>
          <a:p>
            <a:pPr marL="0" indent="0" algn="l">
              <a:lnSpc>
                <a:spcPct val="125000"/>
              </a:lnSpc>
              <a:buNone/>
            </a:pPr>
            <a:endParaRPr lang="en-US" sz="1300" dirty="0"/>
          </a:p>
        </p:txBody>
      </p:sp>
      <p:sp>
        <p:nvSpPr>
          <p:cNvPr id="3" name="Shape 0"/>
          <p:cNvSpPr/>
          <p:nvPr/>
        </p:nvSpPr>
        <p:spPr>
          <a:xfrm>
            <a:off x="661475" y="1686818"/>
            <a:ext cx="1318783" cy="251420"/>
          </a:xfrm>
          <a:prstGeom prst="roundRect">
            <a:avLst>
              <a:gd name="adj" fmla="val 47364"/>
            </a:avLst>
          </a:prstGeom>
          <a:noFill/>
          <a:ln w="12700">
            <a:solidFill>
              <a:srgbClr val="CFCFCF"/>
            </a:solidFill>
            <a:prstDash val="solid"/>
          </a:ln>
        </p:spPr>
      </p:sp>
      <p:pic>
        <p:nvPicPr>
          <p:cNvPr id="4" name="Image 0" descr="preencoded.png"/>
          <p:cNvPicPr>
            <a:picLocks noChangeAspect="1"/>
          </p:cNvPicPr>
          <p:nvPr/>
        </p:nvPicPr>
        <p:blipFill>
          <a:blip r:embed="rId3"/>
          <a:stretch>
            <a:fillRect/>
          </a:stretch>
        </p:blipFill>
        <p:spPr>
          <a:xfrm>
            <a:off x="760691" y="1746349"/>
            <a:ext cx="132255" cy="132259"/>
          </a:xfrm>
          <a:prstGeom prst="rect">
            <a:avLst/>
          </a:prstGeom>
        </p:spPr>
      </p:pic>
      <p:sp>
        <p:nvSpPr>
          <p:cNvPr id="5" name="Text 1"/>
          <p:cNvSpPr/>
          <p:nvPr/>
        </p:nvSpPr>
        <p:spPr>
          <a:xfrm>
            <a:off x="959024" y="1736427"/>
            <a:ext cx="1531602" cy="152202"/>
          </a:xfrm>
          <a:prstGeom prst="rect">
            <a:avLst/>
          </a:prstGeom>
          <a:noFill/>
          <a:ln/>
        </p:spPr>
        <p:txBody>
          <a:bodyPr wrap="none" lIns="0" tIns="0" rIns="0" bIns="0" rtlCol="0" anchor="t"/>
          <a:lstStyle/>
          <a:p>
            <a:pPr marL="0" indent="0" algn="l">
              <a:lnSpc>
                <a:spcPct val="96000"/>
              </a:lnSpc>
              <a:buNone/>
            </a:pPr>
            <a:r>
              <a:rPr lang="en-US" sz="1000" dirty="0">
                <a:solidFill>
                  <a:srgbClr val="CFCFCF"/>
                </a:solidFill>
                <a:latin typeface="Source Sans 3" pitchFamily="34" charset="0"/>
                <a:ea typeface="Source Sans 3" pitchFamily="34" charset="-122"/>
                <a:cs typeface="Source Sans 3" pitchFamily="34" charset="-120"/>
              </a:rPr>
              <a:t>THE CHALLENGE</a:t>
            </a:r>
            <a:endParaRPr lang="en-US" sz="1000" dirty="0"/>
          </a:p>
        </p:txBody>
      </p:sp>
      <p:sp>
        <p:nvSpPr>
          <p:cNvPr id="6" name="Text 2"/>
          <p:cNvSpPr/>
          <p:nvPr/>
        </p:nvSpPr>
        <p:spPr>
          <a:xfrm>
            <a:off x="661475" y="2004318"/>
            <a:ext cx="10868745" cy="372170"/>
          </a:xfrm>
          <a:prstGeom prst="rect">
            <a:avLst/>
          </a:prstGeom>
          <a:noFill/>
          <a:ln/>
        </p:spPr>
        <p:txBody>
          <a:bodyPr wrap="none" lIns="0" tIns="0" rIns="0" bIns="0" rtlCol="0" anchor="t"/>
          <a:lstStyle/>
          <a:p>
            <a:pPr marL="0" indent="0" algn="l">
              <a:lnSpc>
                <a:spcPct val="83000"/>
              </a:lnSpc>
              <a:buNone/>
            </a:pPr>
            <a:r>
              <a:rPr lang="en-US" sz="2900" dirty="0">
                <a:solidFill>
                  <a:srgbClr val="FFFFFF"/>
                </a:solidFill>
                <a:latin typeface="Space Grotesk Medium" pitchFamily="34" charset="0"/>
                <a:ea typeface="Space Grotesk Medium" pitchFamily="34" charset="-122"/>
                <a:cs typeface="Space Grotesk Medium" pitchFamily="34" charset="-120"/>
              </a:rPr>
              <a:t>Managing 15,000+ Devices Across Global Operations</a:t>
            </a:r>
            <a:endParaRPr lang="en-US" sz="2900" dirty="0"/>
          </a:p>
        </p:txBody>
      </p:sp>
      <p:sp>
        <p:nvSpPr>
          <p:cNvPr id="7" name="Text 3"/>
          <p:cNvSpPr/>
          <p:nvPr/>
        </p:nvSpPr>
        <p:spPr>
          <a:xfrm>
            <a:off x="661475" y="2624534"/>
            <a:ext cx="10868745" cy="744141"/>
          </a:xfrm>
          <a:prstGeom prst="rect">
            <a:avLst/>
          </a:prstGeom>
          <a:noFill/>
          <a:ln/>
        </p:spPr>
        <p:txBody>
          <a:bodyPr wrap="square" lIns="0" tIns="0" rIns="0" bIns="0" rtlCol="0" anchor="t">
            <a:normAutofit/>
          </a:bodyPr>
          <a:lstStyle/>
          <a:p>
            <a:pPr marL="0" indent="0" algn="l">
              <a:lnSpc>
                <a:spcPct val="125000"/>
              </a:lnSpc>
              <a:buNone/>
            </a:pPr>
            <a:r>
              <a:rPr lang="en-US" sz="1300" dirty="0">
                <a:solidFill>
                  <a:srgbClr val="CFCFCF"/>
                </a:solidFill>
                <a:latin typeface="Source Sans 3" pitchFamily="34" charset="0"/>
                <a:ea typeface="Source Sans 3" pitchFamily="34" charset="-122"/>
                <a:cs typeface="Source Sans 3" pitchFamily="34" charset="-120"/>
              </a:rPr>
              <a:t>Global EMM Corporation, a multinational organization with 10,000+ employees across multiple offices and remote locations, faced critical challenges managing their rapidly expanding mobile device ecosystem. With 15,000+ Android and iOS devices—including corporate-owned, BYOD, and field devices—the organization lacked centralized visibility and control, leading to security vulnerabilities and compliance risks.</a:t>
            </a:r>
            <a:endParaRPr lang="en-US" sz="1300" dirty="0"/>
          </a:p>
        </p:txBody>
      </p:sp>
      <p:sp>
        <p:nvSpPr>
          <p:cNvPr id="8" name="Text 4"/>
          <p:cNvSpPr/>
          <p:nvPr/>
        </p:nvSpPr>
        <p:spPr>
          <a:xfrm>
            <a:off x="661475" y="3637359"/>
            <a:ext cx="3485071" cy="545802"/>
          </a:xfrm>
          <a:prstGeom prst="rect">
            <a:avLst/>
          </a:prstGeom>
          <a:noFill/>
          <a:ln/>
        </p:spPr>
        <p:txBody>
          <a:bodyPr wrap="none" lIns="0" tIns="0" rIns="0" bIns="0" rtlCol="0" anchor="t"/>
          <a:lstStyle/>
          <a:p>
            <a:pPr marL="0" indent="0" algn="ctr">
              <a:lnSpc>
                <a:spcPct val="83000"/>
              </a:lnSpc>
              <a:buNone/>
            </a:pPr>
            <a:r>
              <a:rPr lang="en-US" sz="4250" dirty="0">
                <a:solidFill>
                  <a:srgbClr val="42A1AD"/>
                </a:solidFill>
                <a:latin typeface="Space Grotesk Medium" pitchFamily="34" charset="0"/>
                <a:ea typeface="Space Grotesk Medium" pitchFamily="34" charset="-122"/>
                <a:cs typeface="Space Grotesk Medium" pitchFamily="34" charset="-120"/>
              </a:rPr>
              <a:t>87%</a:t>
            </a:r>
            <a:endParaRPr lang="en-US" sz="4250" dirty="0"/>
          </a:p>
        </p:txBody>
      </p:sp>
      <p:sp>
        <p:nvSpPr>
          <p:cNvPr id="9" name="Text 5"/>
          <p:cNvSpPr/>
          <p:nvPr/>
        </p:nvSpPr>
        <p:spPr>
          <a:xfrm>
            <a:off x="661475" y="4389834"/>
            <a:ext cx="3485071" cy="186035"/>
          </a:xfrm>
          <a:prstGeom prst="rect">
            <a:avLst/>
          </a:prstGeom>
          <a:noFill/>
          <a:ln/>
        </p:spPr>
        <p:txBody>
          <a:bodyPr wrap="none" lIns="0" tIns="0" rIns="0" bIns="0" rtlCol="0" anchor="t"/>
          <a:lstStyle/>
          <a:p>
            <a:pPr marL="0" indent="0" algn="ctr">
              <a:lnSpc>
                <a:spcPct val="83000"/>
              </a:lnSpc>
              <a:buNone/>
            </a:pPr>
            <a:r>
              <a:rPr lang="en-US" sz="1450" dirty="0">
                <a:solidFill>
                  <a:srgbClr val="FFFFFF"/>
                </a:solidFill>
                <a:latin typeface="Space Grotesk Medium" pitchFamily="34" charset="0"/>
                <a:ea typeface="Space Grotesk Medium" pitchFamily="34" charset="-122"/>
                <a:cs typeface="Space Grotesk Medium" pitchFamily="34" charset="-120"/>
              </a:rPr>
              <a:t>Unauthorized Devices</a:t>
            </a:r>
            <a:endParaRPr lang="en-US" sz="1450" dirty="0"/>
          </a:p>
        </p:txBody>
      </p:sp>
      <p:sp>
        <p:nvSpPr>
          <p:cNvPr id="10" name="Text 6"/>
          <p:cNvSpPr/>
          <p:nvPr/>
        </p:nvSpPr>
        <p:spPr>
          <a:xfrm>
            <a:off x="661475" y="4675088"/>
            <a:ext cx="3485071" cy="496094"/>
          </a:xfrm>
          <a:prstGeom prst="rect">
            <a:avLst/>
          </a:prstGeom>
          <a:noFill/>
          <a:ln/>
        </p:spPr>
        <p:txBody>
          <a:bodyPr wrap="square" lIns="0" tIns="0" rIns="0" bIns="0" rtlCol="0" anchor="t">
            <a:normAutofit/>
          </a:bodyPr>
          <a:lstStyle/>
          <a:p>
            <a:pPr marL="0" indent="0" algn="ctr">
              <a:lnSpc>
                <a:spcPct val="125000"/>
              </a:lnSpc>
              <a:buNone/>
            </a:pPr>
            <a:r>
              <a:rPr lang="en-US" sz="1300" dirty="0">
                <a:solidFill>
                  <a:srgbClr val="CFCFCF"/>
                </a:solidFill>
                <a:latin typeface="Source Sans 3" pitchFamily="34" charset="0"/>
                <a:ea typeface="Source Sans 3" pitchFamily="34" charset="-122"/>
                <a:cs typeface="Source Sans 3" pitchFamily="34" charset="-120"/>
              </a:rPr>
              <a:t>Unmanaged devices detected on corporate network</a:t>
            </a:r>
            <a:endParaRPr lang="en-US" sz="1300" dirty="0"/>
          </a:p>
        </p:txBody>
      </p:sp>
      <p:sp>
        <p:nvSpPr>
          <p:cNvPr id="11" name="Text 7"/>
          <p:cNvSpPr/>
          <p:nvPr/>
        </p:nvSpPr>
        <p:spPr>
          <a:xfrm>
            <a:off x="4353213" y="3637359"/>
            <a:ext cx="3485170" cy="545802"/>
          </a:xfrm>
          <a:prstGeom prst="rect">
            <a:avLst/>
          </a:prstGeom>
          <a:noFill/>
          <a:ln/>
        </p:spPr>
        <p:txBody>
          <a:bodyPr wrap="none" lIns="0" tIns="0" rIns="0" bIns="0" rtlCol="0" anchor="t"/>
          <a:lstStyle/>
          <a:p>
            <a:pPr marL="0" indent="0" algn="ctr">
              <a:lnSpc>
                <a:spcPct val="83000"/>
              </a:lnSpc>
              <a:buNone/>
            </a:pPr>
            <a:r>
              <a:rPr lang="en-US" sz="4250" dirty="0">
                <a:solidFill>
                  <a:srgbClr val="42A1AD"/>
                </a:solidFill>
                <a:latin typeface="Space Grotesk Medium" pitchFamily="34" charset="0"/>
                <a:ea typeface="Space Grotesk Medium" pitchFamily="34" charset="-122"/>
                <a:cs typeface="Space Grotesk Medium" pitchFamily="34" charset="-120"/>
              </a:rPr>
              <a:t>$2.4M</a:t>
            </a:r>
            <a:endParaRPr lang="en-US" sz="4250" dirty="0"/>
          </a:p>
        </p:txBody>
      </p:sp>
      <p:sp>
        <p:nvSpPr>
          <p:cNvPr id="12" name="Text 8"/>
          <p:cNvSpPr/>
          <p:nvPr/>
        </p:nvSpPr>
        <p:spPr>
          <a:xfrm>
            <a:off x="4353213" y="4389834"/>
            <a:ext cx="3485170" cy="186035"/>
          </a:xfrm>
          <a:prstGeom prst="rect">
            <a:avLst/>
          </a:prstGeom>
          <a:noFill/>
          <a:ln/>
        </p:spPr>
        <p:txBody>
          <a:bodyPr wrap="none" lIns="0" tIns="0" rIns="0" bIns="0" rtlCol="0" anchor="t"/>
          <a:lstStyle/>
          <a:p>
            <a:pPr marL="0" indent="0" algn="ctr">
              <a:lnSpc>
                <a:spcPct val="83000"/>
              </a:lnSpc>
              <a:buNone/>
            </a:pPr>
            <a:r>
              <a:rPr lang="en-US" sz="1450" dirty="0">
                <a:solidFill>
                  <a:srgbClr val="FFFFFF"/>
                </a:solidFill>
                <a:latin typeface="Space Grotesk Medium" pitchFamily="34" charset="0"/>
                <a:ea typeface="Space Grotesk Medium" pitchFamily="34" charset="-122"/>
                <a:cs typeface="Space Grotesk Medium" pitchFamily="34" charset="-120"/>
              </a:rPr>
              <a:t>Annual Security Risk</a:t>
            </a:r>
            <a:endParaRPr lang="en-US" sz="1450" dirty="0"/>
          </a:p>
        </p:txBody>
      </p:sp>
      <p:sp>
        <p:nvSpPr>
          <p:cNvPr id="13" name="Text 9"/>
          <p:cNvSpPr/>
          <p:nvPr/>
        </p:nvSpPr>
        <p:spPr>
          <a:xfrm>
            <a:off x="4353213" y="4675088"/>
            <a:ext cx="3485170" cy="248047"/>
          </a:xfrm>
          <a:prstGeom prst="rect">
            <a:avLst/>
          </a:prstGeom>
          <a:noFill/>
          <a:ln/>
        </p:spPr>
        <p:txBody>
          <a:bodyPr wrap="none" lIns="0" tIns="0" rIns="0" bIns="0" rtlCol="0" anchor="t"/>
          <a:lstStyle/>
          <a:p>
            <a:pPr marL="0" indent="0" algn="ctr">
              <a:lnSpc>
                <a:spcPct val="125000"/>
              </a:lnSpc>
              <a:buNone/>
            </a:pPr>
            <a:r>
              <a:rPr lang="en-US" sz="1300" dirty="0">
                <a:solidFill>
                  <a:srgbClr val="CFCFCF"/>
                </a:solidFill>
                <a:latin typeface="Source Sans 3" pitchFamily="34" charset="0"/>
                <a:ea typeface="Source Sans 3" pitchFamily="34" charset="-122"/>
                <a:cs typeface="Source Sans 3" pitchFamily="34" charset="-120"/>
              </a:rPr>
              <a:t>Estimated cost of potential breaches and data loss</a:t>
            </a:r>
            <a:endParaRPr lang="en-US" sz="1300" dirty="0"/>
          </a:p>
        </p:txBody>
      </p:sp>
      <p:sp>
        <p:nvSpPr>
          <p:cNvPr id="14" name="Text 10"/>
          <p:cNvSpPr/>
          <p:nvPr/>
        </p:nvSpPr>
        <p:spPr>
          <a:xfrm>
            <a:off x="8045050" y="3637359"/>
            <a:ext cx="3485170" cy="545802"/>
          </a:xfrm>
          <a:prstGeom prst="rect">
            <a:avLst/>
          </a:prstGeom>
          <a:noFill/>
          <a:ln/>
        </p:spPr>
        <p:txBody>
          <a:bodyPr wrap="none" lIns="0" tIns="0" rIns="0" bIns="0" rtlCol="0" anchor="t"/>
          <a:lstStyle/>
          <a:p>
            <a:pPr marL="0" indent="0" algn="ctr">
              <a:lnSpc>
                <a:spcPct val="83000"/>
              </a:lnSpc>
              <a:buNone/>
            </a:pPr>
            <a:r>
              <a:rPr lang="en-US" sz="4250" dirty="0">
                <a:solidFill>
                  <a:srgbClr val="42A1AD"/>
                </a:solidFill>
                <a:latin typeface="Space Grotesk Medium" pitchFamily="34" charset="0"/>
                <a:ea typeface="Space Grotesk Medium" pitchFamily="34" charset="-122"/>
                <a:cs typeface="Space Grotesk Medium" pitchFamily="34" charset="-120"/>
              </a:rPr>
              <a:t>340hrs</a:t>
            </a:r>
            <a:endParaRPr lang="en-US" sz="4250" dirty="0"/>
          </a:p>
        </p:txBody>
      </p:sp>
      <p:sp>
        <p:nvSpPr>
          <p:cNvPr id="15" name="Text 11"/>
          <p:cNvSpPr/>
          <p:nvPr/>
        </p:nvSpPr>
        <p:spPr>
          <a:xfrm>
            <a:off x="8045050" y="4389834"/>
            <a:ext cx="3485170" cy="186035"/>
          </a:xfrm>
          <a:prstGeom prst="rect">
            <a:avLst/>
          </a:prstGeom>
          <a:noFill/>
          <a:ln/>
        </p:spPr>
        <p:txBody>
          <a:bodyPr wrap="none" lIns="0" tIns="0" rIns="0" bIns="0" rtlCol="0" anchor="t"/>
          <a:lstStyle/>
          <a:p>
            <a:pPr marL="0" indent="0" algn="ctr">
              <a:lnSpc>
                <a:spcPct val="83000"/>
              </a:lnSpc>
              <a:buNone/>
            </a:pPr>
            <a:r>
              <a:rPr lang="en-US" sz="1450" dirty="0">
                <a:solidFill>
                  <a:srgbClr val="FFFFFF"/>
                </a:solidFill>
                <a:latin typeface="Space Grotesk Medium" pitchFamily="34" charset="0"/>
                <a:ea typeface="Space Grotesk Medium" pitchFamily="34" charset="-122"/>
                <a:cs typeface="Space Grotesk Medium" pitchFamily="34" charset="-120"/>
              </a:rPr>
              <a:t>Manual Management</a:t>
            </a:r>
            <a:endParaRPr lang="en-US" sz="1450" dirty="0"/>
          </a:p>
        </p:txBody>
      </p:sp>
      <p:sp>
        <p:nvSpPr>
          <p:cNvPr id="16" name="Text 12"/>
          <p:cNvSpPr/>
          <p:nvPr/>
        </p:nvSpPr>
        <p:spPr>
          <a:xfrm>
            <a:off x="8045050" y="4675088"/>
            <a:ext cx="3485170" cy="496094"/>
          </a:xfrm>
          <a:prstGeom prst="rect">
            <a:avLst/>
          </a:prstGeom>
          <a:noFill/>
          <a:ln/>
        </p:spPr>
        <p:txBody>
          <a:bodyPr wrap="square" lIns="0" tIns="0" rIns="0" bIns="0" rtlCol="0" anchor="t">
            <a:normAutofit/>
          </a:bodyPr>
          <a:lstStyle/>
          <a:p>
            <a:pPr marL="0" indent="0" algn="ctr">
              <a:lnSpc>
                <a:spcPct val="125000"/>
              </a:lnSpc>
              <a:buNone/>
            </a:pPr>
            <a:r>
              <a:rPr lang="en-US" sz="1300" dirty="0">
                <a:solidFill>
                  <a:srgbClr val="CFCFCF"/>
                </a:solidFill>
                <a:latin typeface="Source Sans 3" pitchFamily="34" charset="0"/>
                <a:ea typeface="Source Sans 3" pitchFamily="34" charset="-122"/>
                <a:cs typeface="Source Sans 3" pitchFamily="34" charset="-120"/>
              </a:rPr>
              <a:t>Monthly hours spent on device enrollment and support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828899"/>
            <a:ext cx="11478330" cy="248047"/>
          </a:xfrm>
          <a:prstGeom prst="rect">
            <a:avLst/>
          </a:prstGeom>
          <a:noFill/>
          <a:ln/>
        </p:spPr>
        <p:txBody>
          <a:bodyPr wrap="none" lIns="0" tIns="0" rIns="0" bIns="0" rtlCol="0" anchor="t"/>
          <a:lstStyle/>
          <a:p>
            <a:pPr marL="0" indent="0" algn="l">
              <a:lnSpc>
                <a:spcPct val="125000"/>
              </a:lnSpc>
              <a:buNone/>
            </a:pPr>
            <a:endParaRPr lang="en-US" sz="1300" dirty="0"/>
          </a:p>
        </p:txBody>
      </p:sp>
      <p:sp>
        <p:nvSpPr>
          <p:cNvPr id="5" name="Text 0"/>
          <p:cNvSpPr/>
          <p:nvPr/>
        </p:nvSpPr>
        <p:spPr>
          <a:xfrm>
            <a:off x="661475" y="622598"/>
            <a:ext cx="3919043" cy="628055"/>
          </a:xfrm>
          <a:prstGeom prst="rect">
            <a:avLst/>
          </a:prstGeom>
          <a:noFill/>
          <a:ln/>
        </p:spPr>
        <p:txBody>
          <a:bodyPr wrap="square" lIns="0" tIns="0" rIns="0" bIns="0" rtlCol="0" anchor="t">
            <a:normAutofit/>
          </a:bodyPr>
          <a:lstStyle/>
          <a:p>
            <a:pPr marL="0" indent="0" algn="l">
              <a:lnSpc>
                <a:spcPct val="83000"/>
              </a:lnSpc>
              <a:buNone/>
            </a:pPr>
            <a:r>
              <a:rPr lang="en-US" sz="2450" dirty="0">
                <a:solidFill>
                  <a:srgbClr val="FFFFFF"/>
                </a:solidFill>
                <a:latin typeface="Space Grotesk Medium" pitchFamily="34" charset="0"/>
                <a:ea typeface="Space Grotesk Medium" pitchFamily="34" charset="-122"/>
                <a:cs typeface="Space Grotesk Medium" pitchFamily="34" charset="-120"/>
              </a:rPr>
              <a:t>Enterprise Challenges Addressed</a:t>
            </a:r>
            <a:endParaRPr lang="en-US" sz="2450" dirty="0"/>
          </a:p>
        </p:txBody>
      </p:sp>
      <p:sp>
        <p:nvSpPr>
          <p:cNvPr id="6" name="Text 1"/>
          <p:cNvSpPr/>
          <p:nvPr/>
        </p:nvSpPr>
        <p:spPr>
          <a:xfrm>
            <a:off x="661475" y="1368326"/>
            <a:ext cx="3919043" cy="491927"/>
          </a:xfrm>
          <a:prstGeom prst="rect">
            <a:avLst/>
          </a:prstGeom>
          <a:noFill/>
          <a:ln/>
        </p:spPr>
        <p:txBody>
          <a:bodyPr wrap="square" lIns="0" tIns="0" rIns="0" bIns="0" rtlCol="0" anchor="t"/>
          <a:lstStyle/>
          <a:p>
            <a:pPr marL="0" indent="0" algn="l">
              <a:lnSpc>
                <a:spcPct val="115000"/>
              </a:lnSpc>
              <a:spcAft>
                <a:spcPts val="800"/>
              </a:spcAft>
              <a:buNone/>
            </a:pPr>
            <a:endParaRPr lang="en-US" sz="1050" dirty="0"/>
          </a:p>
        </p:txBody>
      </p:sp>
      <p:pic>
        <p:nvPicPr>
          <p:cNvPr id="7" name="Image 0" descr="preencoded.png"/>
          <p:cNvPicPr>
            <a:picLocks noChangeAspect="1"/>
          </p:cNvPicPr>
          <p:nvPr/>
        </p:nvPicPr>
        <p:blipFill>
          <a:blip r:embed="rId3"/>
          <a:stretch>
            <a:fillRect/>
          </a:stretch>
        </p:blipFill>
        <p:spPr>
          <a:xfrm>
            <a:off x="661475" y="1992709"/>
            <a:ext cx="3170853" cy="4227909"/>
          </a:xfrm>
          <a:prstGeom prst="rect">
            <a:avLst/>
          </a:prstGeom>
        </p:spPr>
      </p:pic>
      <p:sp>
        <p:nvSpPr>
          <p:cNvPr id="8" name="Text 2"/>
          <p:cNvSpPr/>
          <p:nvPr/>
        </p:nvSpPr>
        <p:spPr>
          <a:xfrm>
            <a:off x="4927179" y="1547217"/>
            <a:ext cx="6609292" cy="491927"/>
          </a:xfrm>
          <a:prstGeom prst="rect">
            <a:avLst/>
          </a:prstGeom>
          <a:noFill/>
          <a:ln/>
        </p:spPr>
        <p:txBody>
          <a:bodyPr wrap="square" lIns="0" tIns="0" rIns="0" bIns="0" rtlCol="0" anchor="t"/>
          <a:lstStyle/>
          <a:p>
            <a:pPr marL="0" indent="0" algn="l">
              <a:lnSpc>
                <a:spcPct val="115000"/>
              </a:lnSpc>
              <a:spcAft>
                <a:spcPts val="800"/>
              </a:spcAft>
              <a:buNone/>
            </a:pPr>
            <a:endParaRPr lang="en-US" sz="1050" dirty="0"/>
          </a:p>
        </p:txBody>
      </p:sp>
      <p:sp>
        <p:nvSpPr>
          <p:cNvPr id="9" name="Text 3"/>
          <p:cNvSpPr/>
          <p:nvPr/>
        </p:nvSpPr>
        <p:spPr>
          <a:xfrm>
            <a:off x="4927179" y="2171601"/>
            <a:ext cx="279095" cy="139502"/>
          </a:xfrm>
          <a:prstGeom prst="rect">
            <a:avLst/>
          </a:prstGeom>
          <a:noFill/>
          <a:ln/>
        </p:spPr>
        <p:txBody>
          <a:bodyPr wrap="none" lIns="0" tIns="0" rIns="0" bIns="0" rtlCol="0" anchor="ctr"/>
          <a:lstStyle/>
          <a:p>
            <a:pPr marL="0" indent="0" algn="l">
              <a:lnSpc>
                <a:spcPct val="100000"/>
              </a:lnSpc>
              <a:buNone/>
            </a:pPr>
            <a:r>
              <a:rPr lang="en-US" sz="1050" dirty="0">
                <a:solidFill>
                  <a:srgbClr val="CFCFCF"/>
                </a:solidFill>
                <a:latin typeface="Space Grotesk Light" pitchFamily="34" charset="0"/>
                <a:ea typeface="Space Grotesk Light" pitchFamily="34" charset="-122"/>
                <a:cs typeface="Space Grotesk Light" pitchFamily="34" charset="-120"/>
              </a:rPr>
              <a:t>01</a:t>
            </a:r>
            <a:endParaRPr lang="en-US" sz="1050" dirty="0"/>
          </a:p>
        </p:txBody>
      </p:sp>
      <p:sp>
        <p:nvSpPr>
          <p:cNvPr id="10" name="Shape 4"/>
          <p:cNvSpPr/>
          <p:nvPr/>
        </p:nvSpPr>
        <p:spPr>
          <a:xfrm>
            <a:off x="4927179" y="2354759"/>
            <a:ext cx="3245761" cy="19050"/>
          </a:xfrm>
          <a:prstGeom prst="rect">
            <a:avLst/>
          </a:prstGeom>
          <a:solidFill>
            <a:srgbClr val="42A1AD"/>
          </a:solidFill>
          <a:ln/>
        </p:spPr>
      </p:sp>
      <p:sp>
        <p:nvSpPr>
          <p:cNvPr id="11" name="Text 5"/>
          <p:cNvSpPr/>
          <p:nvPr/>
        </p:nvSpPr>
        <p:spPr>
          <a:xfrm>
            <a:off x="4927179" y="2462609"/>
            <a:ext cx="3245761" cy="156964"/>
          </a:xfrm>
          <a:prstGeom prst="rect">
            <a:avLst/>
          </a:prstGeom>
          <a:noFill/>
          <a:ln/>
        </p:spPr>
        <p:txBody>
          <a:bodyPr wrap="none" lIns="0" tIns="0" rIns="0" bIns="0" rtlCol="0" anchor="t"/>
          <a:lstStyle/>
          <a:p>
            <a:pPr marL="0" indent="0" algn="l">
              <a:lnSpc>
                <a:spcPct val="83000"/>
              </a:lnSpc>
              <a:buNone/>
            </a:pPr>
            <a:r>
              <a:rPr lang="en-US" sz="1200" b="1" dirty="0">
                <a:solidFill>
                  <a:srgbClr val="42A1AD"/>
                </a:solidFill>
                <a:latin typeface="Space Grotesk Bold" pitchFamily="34" charset="0"/>
                <a:ea typeface="Space Grotesk Bold" pitchFamily="34" charset="-122"/>
                <a:cs typeface="Space Grotesk Bold" pitchFamily="34" charset="-120"/>
              </a:rPr>
              <a:t>Corporate Office Employees</a:t>
            </a:r>
            <a:endParaRPr lang="en-US" sz="1200" dirty="0"/>
          </a:p>
        </p:txBody>
      </p:sp>
      <p:sp>
        <p:nvSpPr>
          <p:cNvPr id="12" name="Text 6"/>
          <p:cNvSpPr/>
          <p:nvPr/>
        </p:nvSpPr>
        <p:spPr>
          <a:xfrm>
            <a:off x="4927179" y="2737247"/>
            <a:ext cx="3245761" cy="895449"/>
          </a:xfrm>
          <a:prstGeom prst="rect">
            <a:avLst/>
          </a:prstGeom>
          <a:noFill/>
          <a:ln/>
        </p:spPr>
        <p:txBody>
          <a:bodyPr wrap="square" lIns="0" tIns="55820" rIns="0" bIns="0" rtlCol="0" anchor="t">
            <a:normAutofit/>
          </a:bodyPr>
          <a:lstStyle/>
          <a:p>
            <a:pPr marL="213360" indent="-213360" algn="l">
              <a:lnSpc>
                <a:spcPct val="115000"/>
              </a:lnSpc>
              <a:buSzPct val="100000"/>
              <a:buChar char="•"/>
            </a:pPr>
            <a:r>
              <a:rPr lang="en-US" sz="1050" dirty="0">
                <a:solidFill>
                  <a:srgbClr val="CFCFCF"/>
                </a:solidFill>
                <a:latin typeface="Source Sans 3" pitchFamily="34" charset="0"/>
                <a:ea typeface="Source Sans 3" pitchFamily="34" charset="-122"/>
                <a:cs typeface="Source Sans 3" pitchFamily="34" charset="-120"/>
              </a:rPr>
              <a:t>Seamless device enrollment and management</a:t>
            </a:r>
            <a:endParaRPr lang="en-US" sz="1050" dirty="0"/>
          </a:p>
          <a:p>
            <a:pPr marL="213360" indent="-213360" algn="l">
              <a:lnSpc>
                <a:spcPct val="115000"/>
              </a:lnSpc>
              <a:buSzPct val="100000"/>
              <a:buChar char="•"/>
            </a:pPr>
            <a:r>
              <a:rPr lang="en-US" sz="1050" dirty="0">
                <a:solidFill>
                  <a:srgbClr val="CFCFCF"/>
                </a:solidFill>
                <a:latin typeface="Source Sans 3" pitchFamily="34" charset="0"/>
                <a:ea typeface="Source Sans 3" pitchFamily="34" charset="-122"/>
                <a:cs typeface="Source Sans 3" pitchFamily="34" charset="-120"/>
              </a:rPr>
              <a:t>Centralized policy enforcement</a:t>
            </a:r>
            <a:endParaRPr lang="en-US" sz="1050" dirty="0"/>
          </a:p>
          <a:p>
            <a:pPr marL="213360" indent="-213360" algn="l">
              <a:lnSpc>
                <a:spcPct val="115000"/>
              </a:lnSpc>
              <a:buSzPct val="100000"/>
              <a:buChar char="•"/>
            </a:pPr>
            <a:r>
              <a:rPr lang="en-US" sz="1050" dirty="0">
                <a:solidFill>
                  <a:srgbClr val="CFCFCF"/>
                </a:solidFill>
                <a:latin typeface="Source Sans 3" pitchFamily="34" charset="0"/>
                <a:ea typeface="Source Sans 3" pitchFamily="34" charset="-122"/>
                <a:cs typeface="Source Sans 3" pitchFamily="34" charset="-120"/>
              </a:rPr>
              <a:t>Secure access to corporate resources</a:t>
            </a:r>
            <a:endParaRPr lang="en-US" sz="1050" dirty="0"/>
          </a:p>
          <a:p>
            <a:pPr marL="213360" indent="-213360" algn="l">
              <a:lnSpc>
                <a:spcPct val="115000"/>
              </a:lnSpc>
              <a:buSzPct val="100000"/>
              <a:buChar char="•"/>
            </a:pPr>
            <a:r>
              <a:rPr lang="en-US" sz="1050" dirty="0">
                <a:solidFill>
                  <a:srgbClr val="CFCFCF"/>
                </a:solidFill>
                <a:latin typeface="Source Sans 3" pitchFamily="34" charset="0"/>
                <a:ea typeface="Source Sans 3" pitchFamily="34" charset="-122"/>
                <a:cs typeface="Source Sans 3" pitchFamily="34" charset="-120"/>
              </a:rPr>
              <a:t>Automated compliance monitoring</a:t>
            </a:r>
            <a:endParaRPr lang="en-US" sz="1050" dirty="0"/>
          </a:p>
        </p:txBody>
      </p:sp>
      <p:sp>
        <p:nvSpPr>
          <p:cNvPr id="13" name="Text 7"/>
          <p:cNvSpPr/>
          <p:nvPr/>
        </p:nvSpPr>
        <p:spPr>
          <a:xfrm>
            <a:off x="8290611" y="2171601"/>
            <a:ext cx="279095" cy="139502"/>
          </a:xfrm>
          <a:prstGeom prst="rect">
            <a:avLst/>
          </a:prstGeom>
          <a:noFill/>
          <a:ln/>
        </p:spPr>
        <p:txBody>
          <a:bodyPr wrap="none" lIns="0" tIns="0" rIns="0" bIns="0" rtlCol="0" anchor="ctr"/>
          <a:lstStyle/>
          <a:p>
            <a:pPr marL="0" indent="0" algn="l">
              <a:lnSpc>
                <a:spcPct val="100000"/>
              </a:lnSpc>
              <a:buNone/>
            </a:pPr>
            <a:r>
              <a:rPr lang="en-US" sz="1050" dirty="0">
                <a:solidFill>
                  <a:srgbClr val="CFCFCF"/>
                </a:solidFill>
                <a:latin typeface="Space Grotesk Light" pitchFamily="34" charset="0"/>
                <a:ea typeface="Space Grotesk Light" pitchFamily="34" charset="-122"/>
                <a:cs typeface="Space Grotesk Light" pitchFamily="34" charset="-120"/>
              </a:rPr>
              <a:t>02</a:t>
            </a:r>
            <a:endParaRPr lang="en-US" sz="1050" dirty="0"/>
          </a:p>
        </p:txBody>
      </p:sp>
      <p:sp>
        <p:nvSpPr>
          <p:cNvPr id="14" name="Shape 8"/>
          <p:cNvSpPr/>
          <p:nvPr/>
        </p:nvSpPr>
        <p:spPr>
          <a:xfrm>
            <a:off x="8290611" y="2354759"/>
            <a:ext cx="3245860" cy="19050"/>
          </a:xfrm>
          <a:prstGeom prst="rect">
            <a:avLst/>
          </a:prstGeom>
          <a:solidFill>
            <a:srgbClr val="42A1AD"/>
          </a:solidFill>
          <a:ln/>
        </p:spPr>
      </p:sp>
      <p:sp>
        <p:nvSpPr>
          <p:cNvPr id="15" name="Text 9"/>
          <p:cNvSpPr/>
          <p:nvPr/>
        </p:nvSpPr>
        <p:spPr>
          <a:xfrm>
            <a:off x="8290611" y="2462609"/>
            <a:ext cx="3245860" cy="156964"/>
          </a:xfrm>
          <a:prstGeom prst="rect">
            <a:avLst/>
          </a:prstGeom>
          <a:noFill/>
          <a:ln/>
        </p:spPr>
        <p:txBody>
          <a:bodyPr wrap="none" lIns="0" tIns="0" rIns="0" bIns="0" rtlCol="0" anchor="t"/>
          <a:lstStyle/>
          <a:p>
            <a:pPr marL="0" indent="0" algn="l">
              <a:lnSpc>
                <a:spcPct val="83000"/>
              </a:lnSpc>
              <a:buNone/>
            </a:pPr>
            <a:r>
              <a:rPr lang="en-US" sz="1200" b="1" dirty="0">
                <a:solidFill>
                  <a:srgbClr val="42A1AD"/>
                </a:solidFill>
                <a:latin typeface="Space Grotesk Bold" pitchFamily="34" charset="0"/>
                <a:ea typeface="Space Grotesk Bold" pitchFamily="34" charset="-122"/>
                <a:cs typeface="Space Grotesk Bold" pitchFamily="34" charset="-120"/>
              </a:rPr>
              <a:t>Remote &amp; Hybrid Workers</a:t>
            </a:r>
            <a:endParaRPr lang="en-US" sz="1200" dirty="0"/>
          </a:p>
        </p:txBody>
      </p:sp>
      <p:sp>
        <p:nvSpPr>
          <p:cNvPr id="16" name="Text 10"/>
          <p:cNvSpPr/>
          <p:nvPr/>
        </p:nvSpPr>
        <p:spPr>
          <a:xfrm>
            <a:off x="8290611" y="2737247"/>
            <a:ext cx="3245860" cy="895449"/>
          </a:xfrm>
          <a:prstGeom prst="rect">
            <a:avLst/>
          </a:prstGeom>
          <a:noFill/>
          <a:ln/>
        </p:spPr>
        <p:txBody>
          <a:bodyPr wrap="square" lIns="0" tIns="55820" rIns="0" bIns="0" rtlCol="0" anchor="t">
            <a:normAutofit/>
          </a:bodyPr>
          <a:lstStyle/>
          <a:p>
            <a:pPr marL="213360" indent="-213360" algn="l">
              <a:lnSpc>
                <a:spcPct val="115000"/>
              </a:lnSpc>
              <a:buSzPct val="100000"/>
              <a:buChar char="•"/>
            </a:pPr>
            <a:r>
              <a:rPr lang="en-US" sz="1050" dirty="0">
                <a:solidFill>
                  <a:srgbClr val="CFCFCF"/>
                </a:solidFill>
                <a:latin typeface="Source Sans 3" pitchFamily="34" charset="0"/>
                <a:ea typeface="Source Sans 3" pitchFamily="34" charset="-122"/>
                <a:cs typeface="Source Sans 3" pitchFamily="34" charset="-120"/>
              </a:rPr>
              <a:t>Secure VPN and network access</a:t>
            </a:r>
            <a:endParaRPr lang="en-US" sz="1050" dirty="0"/>
          </a:p>
          <a:p>
            <a:pPr marL="213360" indent="-213360" algn="l">
              <a:lnSpc>
                <a:spcPct val="115000"/>
              </a:lnSpc>
              <a:buSzPct val="100000"/>
              <a:buChar char="•"/>
            </a:pPr>
            <a:r>
              <a:rPr lang="en-US" sz="1050" dirty="0">
                <a:solidFill>
                  <a:srgbClr val="CFCFCF"/>
                </a:solidFill>
                <a:latin typeface="Source Sans 3" pitchFamily="34" charset="0"/>
                <a:ea typeface="Source Sans 3" pitchFamily="34" charset="-122"/>
                <a:cs typeface="Source Sans 3" pitchFamily="34" charset="-120"/>
              </a:rPr>
              <a:t>Device location tracking and geofencing</a:t>
            </a:r>
            <a:endParaRPr lang="en-US" sz="1050" dirty="0"/>
          </a:p>
          <a:p>
            <a:pPr marL="213360" indent="-213360" algn="l">
              <a:lnSpc>
                <a:spcPct val="115000"/>
              </a:lnSpc>
              <a:buSzPct val="100000"/>
              <a:buChar char="•"/>
            </a:pPr>
            <a:r>
              <a:rPr lang="en-US" sz="1050" dirty="0">
                <a:solidFill>
                  <a:srgbClr val="CFCFCF"/>
                </a:solidFill>
                <a:latin typeface="Source Sans 3" pitchFamily="34" charset="0"/>
                <a:ea typeface="Source Sans 3" pitchFamily="34" charset="-122"/>
                <a:cs typeface="Source Sans 3" pitchFamily="34" charset="-120"/>
              </a:rPr>
              <a:t>Conditional access policies</a:t>
            </a:r>
            <a:endParaRPr lang="en-US" sz="1050" dirty="0"/>
          </a:p>
          <a:p>
            <a:pPr marL="213360" indent="-213360" algn="l">
              <a:lnSpc>
                <a:spcPct val="115000"/>
              </a:lnSpc>
              <a:buSzPct val="100000"/>
              <a:buChar char="•"/>
            </a:pPr>
            <a:r>
              <a:rPr lang="en-US" sz="1050" dirty="0">
                <a:solidFill>
                  <a:srgbClr val="CFCFCF"/>
                </a:solidFill>
                <a:latin typeface="Source Sans 3" pitchFamily="34" charset="0"/>
                <a:ea typeface="Source Sans 3" pitchFamily="34" charset="-122"/>
                <a:cs typeface="Source Sans 3" pitchFamily="34" charset="-120"/>
              </a:rPr>
              <a:t>Real-time threat detection</a:t>
            </a:r>
            <a:endParaRPr lang="en-US" sz="1050" dirty="0"/>
          </a:p>
        </p:txBody>
      </p:sp>
      <p:sp>
        <p:nvSpPr>
          <p:cNvPr id="17" name="Text 11"/>
          <p:cNvSpPr/>
          <p:nvPr/>
        </p:nvSpPr>
        <p:spPr>
          <a:xfrm>
            <a:off x="4927179" y="3854946"/>
            <a:ext cx="279095" cy="139502"/>
          </a:xfrm>
          <a:prstGeom prst="rect">
            <a:avLst/>
          </a:prstGeom>
          <a:noFill/>
          <a:ln/>
        </p:spPr>
        <p:txBody>
          <a:bodyPr wrap="none" lIns="0" tIns="0" rIns="0" bIns="0" rtlCol="0" anchor="ctr"/>
          <a:lstStyle/>
          <a:p>
            <a:pPr marL="0" indent="0" algn="l">
              <a:lnSpc>
                <a:spcPct val="100000"/>
              </a:lnSpc>
              <a:buNone/>
            </a:pPr>
            <a:r>
              <a:rPr lang="en-US" sz="1050" dirty="0">
                <a:solidFill>
                  <a:srgbClr val="CFCFCF"/>
                </a:solidFill>
                <a:latin typeface="Space Grotesk Light" pitchFamily="34" charset="0"/>
                <a:ea typeface="Space Grotesk Light" pitchFamily="34" charset="-122"/>
                <a:cs typeface="Space Grotesk Light" pitchFamily="34" charset="-120"/>
              </a:rPr>
              <a:t>03</a:t>
            </a:r>
            <a:endParaRPr lang="en-US" sz="1050" dirty="0"/>
          </a:p>
        </p:txBody>
      </p:sp>
      <p:sp>
        <p:nvSpPr>
          <p:cNvPr id="18" name="Shape 12"/>
          <p:cNvSpPr/>
          <p:nvPr/>
        </p:nvSpPr>
        <p:spPr>
          <a:xfrm>
            <a:off x="4927179" y="4038104"/>
            <a:ext cx="3245761" cy="19050"/>
          </a:xfrm>
          <a:prstGeom prst="rect">
            <a:avLst/>
          </a:prstGeom>
          <a:solidFill>
            <a:srgbClr val="42A1AD"/>
          </a:solidFill>
          <a:ln/>
        </p:spPr>
      </p:sp>
      <p:sp>
        <p:nvSpPr>
          <p:cNvPr id="19" name="Text 13"/>
          <p:cNvSpPr/>
          <p:nvPr/>
        </p:nvSpPr>
        <p:spPr>
          <a:xfrm>
            <a:off x="4927179" y="4145955"/>
            <a:ext cx="3245761" cy="156964"/>
          </a:xfrm>
          <a:prstGeom prst="rect">
            <a:avLst/>
          </a:prstGeom>
          <a:noFill/>
          <a:ln/>
        </p:spPr>
        <p:txBody>
          <a:bodyPr wrap="none" lIns="0" tIns="0" rIns="0" bIns="0" rtlCol="0" anchor="t"/>
          <a:lstStyle/>
          <a:p>
            <a:pPr marL="0" indent="0" algn="l">
              <a:lnSpc>
                <a:spcPct val="83000"/>
              </a:lnSpc>
              <a:buNone/>
            </a:pPr>
            <a:r>
              <a:rPr lang="en-US" sz="1200" b="1" dirty="0">
                <a:solidFill>
                  <a:srgbClr val="42A1AD"/>
                </a:solidFill>
                <a:latin typeface="Space Grotesk Bold" pitchFamily="34" charset="0"/>
                <a:ea typeface="Space Grotesk Bold" pitchFamily="34" charset="-122"/>
                <a:cs typeface="Space Grotesk Bold" pitchFamily="34" charset="-120"/>
              </a:rPr>
              <a:t>Field Service Teams</a:t>
            </a:r>
            <a:endParaRPr lang="en-US" sz="1200" dirty="0"/>
          </a:p>
        </p:txBody>
      </p:sp>
      <p:sp>
        <p:nvSpPr>
          <p:cNvPr id="20" name="Text 14"/>
          <p:cNvSpPr/>
          <p:nvPr/>
        </p:nvSpPr>
        <p:spPr>
          <a:xfrm>
            <a:off x="4927179" y="4420592"/>
            <a:ext cx="3245761" cy="895449"/>
          </a:xfrm>
          <a:prstGeom prst="rect">
            <a:avLst/>
          </a:prstGeom>
          <a:noFill/>
          <a:ln/>
        </p:spPr>
        <p:txBody>
          <a:bodyPr wrap="square" lIns="0" tIns="55820" rIns="0" bIns="0" rtlCol="0" anchor="t">
            <a:normAutofit/>
          </a:bodyPr>
          <a:lstStyle/>
          <a:p>
            <a:pPr marL="213360" indent="-213360" algn="l">
              <a:lnSpc>
                <a:spcPct val="115000"/>
              </a:lnSpc>
              <a:buSzPct val="100000"/>
              <a:buChar char="•"/>
            </a:pPr>
            <a:r>
              <a:rPr lang="en-US" sz="1050" dirty="0">
                <a:solidFill>
                  <a:srgbClr val="CFCFCF"/>
                </a:solidFill>
                <a:latin typeface="Source Sans 3" pitchFamily="34" charset="0"/>
                <a:ea typeface="Source Sans 3" pitchFamily="34" charset="-122"/>
                <a:cs typeface="Source Sans 3" pitchFamily="34" charset="-120"/>
              </a:rPr>
              <a:t>GPS tracking and location-based policies</a:t>
            </a:r>
            <a:endParaRPr lang="en-US" sz="1050" dirty="0"/>
          </a:p>
          <a:p>
            <a:pPr marL="213360" indent="-213360" algn="l">
              <a:lnSpc>
                <a:spcPct val="115000"/>
              </a:lnSpc>
              <a:buSzPct val="100000"/>
              <a:buChar char="•"/>
            </a:pPr>
            <a:r>
              <a:rPr lang="en-US" sz="1050" dirty="0">
                <a:solidFill>
                  <a:srgbClr val="CFCFCF"/>
                </a:solidFill>
                <a:latin typeface="Source Sans 3" pitchFamily="34" charset="0"/>
                <a:ea typeface="Source Sans 3" pitchFamily="34" charset="-122"/>
                <a:cs typeface="Source Sans 3" pitchFamily="34" charset="-120"/>
              </a:rPr>
              <a:t>Offline capability and sync</a:t>
            </a:r>
            <a:endParaRPr lang="en-US" sz="1050" dirty="0"/>
          </a:p>
          <a:p>
            <a:pPr marL="213360" indent="-213360" algn="l">
              <a:lnSpc>
                <a:spcPct val="115000"/>
              </a:lnSpc>
              <a:buSzPct val="100000"/>
              <a:buChar char="•"/>
            </a:pPr>
            <a:r>
              <a:rPr lang="en-US" sz="1050" dirty="0">
                <a:solidFill>
                  <a:srgbClr val="CFCFCF"/>
                </a:solidFill>
                <a:latin typeface="Source Sans 3" pitchFamily="34" charset="0"/>
                <a:ea typeface="Source Sans 3" pitchFamily="34" charset="-122"/>
                <a:cs typeface="Source Sans 3" pitchFamily="34" charset="-120"/>
              </a:rPr>
              <a:t>Rugged device support</a:t>
            </a:r>
            <a:endParaRPr lang="en-US" sz="1050" dirty="0"/>
          </a:p>
          <a:p>
            <a:pPr marL="213360" indent="-213360" algn="l">
              <a:lnSpc>
                <a:spcPct val="115000"/>
              </a:lnSpc>
              <a:buSzPct val="100000"/>
              <a:buChar char="•"/>
            </a:pPr>
            <a:r>
              <a:rPr lang="en-US" sz="1050" dirty="0">
                <a:solidFill>
                  <a:srgbClr val="CFCFCF"/>
                </a:solidFill>
                <a:latin typeface="Source Sans 3" pitchFamily="34" charset="0"/>
                <a:ea typeface="Source Sans 3" pitchFamily="34" charset="-122"/>
                <a:cs typeface="Source Sans 3" pitchFamily="34" charset="-120"/>
              </a:rPr>
              <a:t>Work order integration</a:t>
            </a:r>
            <a:endParaRPr lang="en-US" sz="1050" dirty="0"/>
          </a:p>
        </p:txBody>
      </p:sp>
      <p:sp>
        <p:nvSpPr>
          <p:cNvPr id="21" name="Text 15"/>
          <p:cNvSpPr/>
          <p:nvPr/>
        </p:nvSpPr>
        <p:spPr>
          <a:xfrm>
            <a:off x="8290611" y="3854946"/>
            <a:ext cx="279095" cy="139502"/>
          </a:xfrm>
          <a:prstGeom prst="rect">
            <a:avLst/>
          </a:prstGeom>
          <a:noFill/>
          <a:ln/>
        </p:spPr>
        <p:txBody>
          <a:bodyPr wrap="none" lIns="0" tIns="0" rIns="0" bIns="0" rtlCol="0" anchor="ctr"/>
          <a:lstStyle/>
          <a:p>
            <a:pPr marL="0" indent="0" algn="l">
              <a:lnSpc>
                <a:spcPct val="100000"/>
              </a:lnSpc>
              <a:buNone/>
            </a:pPr>
            <a:r>
              <a:rPr lang="en-US" sz="1050" dirty="0">
                <a:solidFill>
                  <a:srgbClr val="CFCFCF"/>
                </a:solidFill>
                <a:latin typeface="Space Grotesk Light" pitchFamily="34" charset="0"/>
                <a:ea typeface="Space Grotesk Light" pitchFamily="34" charset="-122"/>
                <a:cs typeface="Space Grotesk Light" pitchFamily="34" charset="-120"/>
              </a:rPr>
              <a:t>04</a:t>
            </a:r>
            <a:endParaRPr lang="en-US" sz="1050" dirty="0"/>
          </a:p>
        </p:txBody>
      </p:sp>
      <p:sp>
        <p:nvSpPr>
          <p:cNvPr id="22" name="Shape 16"/>
          <p:cNvSpPr/>
          <p:nvPr/>
        </p:nvSpPr>
        <p:spPr>
          <a:xfrm>
            <a:off x="8290611" y="4038104"/>
            <a:ext cx="3245860" cy="19050"/>
          </a:xfrm>
          <a:prstGeom prst="rect">
            <a:avLst/>
          </a:prstGeom>
          <a:solidFill>
            <a:srgbClr val="42A1AD"/>
          </a:solidFill>
          <a:ln/>
        </p:spPr>
      </p:sp>
      <p:sp>
        <p:nvSpPr>
          <p:cNvPr id="23" name="Text 17"/>
          <p:cNvSpPr/>
          <p:nvPr/>
        </p:nvSpPr>
        <p:spPr>
          <a:xfrm>
            <a:off x="8290611" y="4145955"/>
            <a:ext cx="3245860" cy="156964"/>
          </a:xfrm>
          <a:prstGeom prst="rect">
            <a:avLst/>
          </a:prstGeom>
          <a:noFill/>
          <a:ln/>
        </p:spPr>
        <p:txBody>
          <a:bodyPr wrap="none" lIns="0" tIns="0" rIns="0" bIns="0" rtlCol="0" anchor="t"/>
          <a:lstStyle/>
          <a:p>
            <a:pPr marL="0" indent="0" algn="l">
              <a:lnSpc>
                <a:spcPct val="83000"/>
              </a:lnSpc>
              <a:buNone/>
            </a:pPr>
            <a:r>
              <a:rPr lang="en-US" sz="1200" b="1" dirty="0">
                <a:solidFill>
                  <a:srgbClr val="42A1AD"/>
                </a:solidFill>
                <a:latin typeface="Space Grotesk Bold" pitchFamily="34" charset="0"/>
                <a:ea typeface="Space Grotesk Bold" pitchFamily="34" charset="-122"/>
                <a:cs typeface="Space Grotesk Bold" pitchFamily="34" charset="-120"/>
              </a:rPr>
              <a:t>BYOD Program</a:t>
            </a:r>
            <a:endParaRPr lang="en-US" sz="1200" dirty="0"/>
          </a:p>
        </p:txBody>
      </p:sp>
      <p:sp>
        <p:nvSpPr>
          <p:cNvPr id="24" name="Text 18"/>
          <p:cNvSpPr/>
          <p:nvPr/>
        </p:nvSpPr>
        <p:spPr>
          <a:xfrm>
            <a:off x="8290611" y="4420592"/>
            <a:ext cx="3245860" cy="895449"/>
          </a:xfrm>
          <a:prstGeom prst="rect">
            <a:avLst/>
          </a:prstGeom>
          <a:noFill/>
          <a:ln/>
        </p:spPr>
        <p:txBody>
          <a:bodyPr wrap="square" lIns="0" tIns="55820" rIns="0" bIns="0" rtlCol="0" anchor="t">
            <a:normAutofit/>
          </a:bodyPr>
          <a:lstStyle/>
          <a:p>
            <a:pPr marL="213360" indent="-213360" algn="l">
              <a:lnSpc>
                <a:spcPct val="115000"/>
              </a:lnSpc>
              <a:buSzPct val="100000"/>
              <a:buChar char="•"/>
            </a:pPr>
            <a:r>
              <a:rPr lang="en-US" sz="1050" dirty="0">
                <a:solidFill>
                  <a:srgbClr val="CFCFCF"/>
                </a:solidFill>
                <a:latin typeface="Source Sans 3" pitchFamily="34" charset="0"/>
                <a:ea typeface="Source Sans 3" pitchFamily="34" charset="-122"/>
                <a:cs typeface="Source Sans 3" pitchFamily="34" charset="-120"/>
              </a:rPr>
              <a:t>Personal device separation and containerization</a:t>
            </a:r>
            <a:endParaRPr lang="en-US" sz="1050" dirty="0"/>
          </a:p>
          <a:p>
            <a:pPr marL="213360" indent="-213360" algn="l">
              <a:lnSpc>
                <a:spcPct val="115000"/>
              </a:lnSpc>
              <a:buSzPct val="100000"/>
              <a:buChar char="•"/>
            </a:pPr>
            <a:r>
              <a:rPr lang="en-US" sz="1050" dirty="0">
                <a:solidFill>
                  <a:srgbClr val="CFCFCF"/>
                </a:solidFill>
                <a:latin typeface="Source Sans 3" pitchFamily="34" charset="0"/>
                <a:ea typeface="Source Sans 3" pitchFamily="34" charset="-122"/>
                <a:cs typeface="Source Sans 3" pitchFamily="34" charset="-120"/>
              </a:rPr>
              <a:t>Selective wipe capabilities</a:t>
            </a:r>
            <a:endParaRPr lang="en-US" sz="1050" dirty="0"/>
          </a:p>
          <a:p>
            <a:pPr marL="213360" indent="-213360" algn="l">
              <a:lnSpc>
                <a:spcPct val="115000"/>
              </a:lnSpc>
              <a:buSzPct val="100000"/>
              <a:buChar char="•"/>
            </a:pPr>
            <a:r>
              <a:rPr lang="en-US" sz="1050" dirty="0">
                <a:solidFill>
                  <a:srgbClr val="CFCFCF"/>
                </a:solidFill>
                <a:latin typeface="Source Sans 3" pitchFamily="34" charset="0"/>
                <a:ea typeface="Source Sans 3" pitchFamily="34" charset="-122"/>
                <a:cs typeface="Source Sans 3" pitchFamily="34" charset="-120"/>
              </a:rPr>
              <a:t>User privacy protection</a:t>
            </a:r>
            <a:endParaRPr lang="en-US" sz="1050" dirty="0"/>
          </a:p>
          <a:p>
            <a:pPr marL="213360" indent="-213360" algn="l">
              <a:lnSpc>
                <a:spcPct val="115000"/>
              </a:lnSpc>
              <a:buSzPct val="100000"/>
              <a:buChar char="•"/>
            </a:pPr>
            <a:r>
              <a:rPr lang="en-US" sz="1050" dirty="0">
                <a:solidFill>
                  <a:srgbClr val="CFCFCF"/>
                </a:solidFill>
                <a:latin typeface="Source Sans 3" pitchFamily="34" charset="0"/>
                <a:ea typeface="Source Sans 3" pitchFamily="34" charset="-122"/>
                <a:cs typeface="Source Sans 3" pitchFamily="34" charset="-120"/>
              </a:rPr>
              <a:t>Flexible policy management</a:t>
            </a:r>
            <a:endParaRPr lang="en-US" sz="1050" dirty="0"/>
          </a:p>
        </p:txBody>
      </p:sp>
      <p:sp>
        <p:nvSpPr>
          <p:cNvPr id="25" name="Shape 19"/>
          <p:cNvSpPr/>
          <p:nvPr/>
        </p:nvSpPr>
        <p:spPr>
          <a:xfrm>
            <a:off x="4927179" y="5553075"/>
            <a:ext cx="6609292" cy="667544"/>
          </a:xfrm>
          <a:prstGeom prst="roundRect">
            <a:avLst>
              <a:gd name="adj" fmla="val 18814"/>
            </a:avLst>
          </a:prstGeom>
          <a:solidFill>
            <a:srgbClr val="42A1AD"/>
          </a:solidFill>
          <a:ln/>
        </p:spPr>
      </p:sp>
      <p:sp>
        <p:nvSpPr>
          <p:cNvPr id="26" name="Text 20"/>
          <p:cNvSpPr/>
          <p:nvPr/>
        </p:nvSpPr>
        <p:spPr>
          <a:xfrm>
            <a:off x="5066677" y="5693866"/>
            <a:ext cx="6330296" cy="385961"/>
          </a:xfrm>
          <a:prstGeom prst="rect">
            <a:avLst/>
          </a:prstGeom>
          <a:noFill/>
          <a:ln/>
        </p:spPr>
        <p:txBody>
          <a:bodyPr wrap="square" lIns="0" tIns="0" rIns="0" bIns="0" rtlCol="0" anchor="t">
            <a:normAutofit/>
          </a:bodyPr>
          <a:lstStyle/>
          <a:p>
            <a:pPr marL="0" indent="0" algn="l">
              <a:lnSpc>
                <a:spcPct val="115000"/>
              </a:lnSpc>
              <a:buNone/>
            </a:pPr>
            <a:r>
              <a:rPr lang="en-US" sz="1050" dirty="0">
                <a:solidFill>
                  <a:srgbClr val="000000"/>
                </a:solidFill>
                <a:latin typeface="Source Sans 3" pitchFamily="34" charset="0"/>
                <a:ea typeface="Source Sans 3" pitchFamily="34" charset="-122"/>
                <a:cs typeface="Source Sans 3" pitchFamily="34" charset="-120"/>
              </a:rPr>
              <a:t>Our EMM platform adapts to every employee segment with role-based policies, device-type flexibility, and industry-standard security controls designed by enterprise security experts.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828899"/>
            <a:ext cx="11478330" cy="248047"/>
          </a:xfrm>
          <a:prstGeom prst="rect">
            <a:avLst/>
          </a:prstGeom>
          <a:noFill/>
          <a:ln/>
        </p:spPr>
        <p:txBody>
          <a:bodyPr wrap="none" lIns="0" tIns="0" rIns="0" bIns="0" rtlCol="0" anchor="t"/>
          <a:lstStyle/>
          <a:p>
            <a:pPr marL="0" indent="0" algn="l">
              <a:lnSpc>
                <a:spcPct val="125000"/>
              </a:lnSpc>
              <a:buNone/>
            </a:pPr>
            <a:endParaRPr lang="en-US" sz="1300" dirty="0"/>
          </a:p>
        </p:txBody>
      </p:sp>
      <p:pic>
        <p:nvPicPr>
          <p:cNvPr id="17" name="Image 0" descr="preencoded.png"/>
          <p:cNvPicPr>
            <a:picLocks noChangeAspect="1"/>
          </p:cNvPicPr>
          <p:nvPr/>
        </p:nvPicPr>
        <p:blipFill>
          <a:blip r:embed="rId3"/>
          <a:stretch>
            <a:fillRect/>
          </a:stretch>
        </p:blipFill>
        <p:spPr>
          <a:xfrm>
            <a:off x="0" y="0"/>
            <a:ext cx="12191695" cy="1033661"/>
          </a:xfrm>
          <a:prstGeom prst="rect">
            <a:avLst/>
          </a:prstGeom>
        </p:spPr>
      </p:pic>
      <p:sp>
        <p:nvSpPr>
          <p:cNvPr id="18" name="Text 0"/>
          <p:cNvSpPr/>
          <p:nvPr/>
        </p:nvSpPr>
        <p:spPr>
          <a:xfrm>
            <a:off x="661475" y="1625302"/>
            <a:ext cx="10868745" cy="372170"/>
          </a:xfrm>
          <a:prstGeom prst="rect">
            <a:avLst/>
          </a:prstGeom>
          <a:noFill/>
          <a:ln/>
        </p:spPr>
        <p:txBody>
          <a:bodyPr wrap="none" lIns="0" tIns="0" rIns="0" bIns="0" rtlCol="0" anchor="t"/>
          <a:lstStyle/>
          <a:p>
            <a:pPr marL="0" indent="0" algn="l">
              <a:lnSpc>
                <a:spcPct val="83000"/>
              </a:lnSpc>
              <a:buNone/>
            </a:pPr>
            <a:r>
              <a:rPr lang="en-US" sz="2900" dirty="0">
                <a:solidFill>
                  <a:srgbClr val="FFFFFF"/>
                </a:solidFill>
                <a:latin typeface="Space Grotesk Medium" pitchFamily="34" charset="0"/>
                <a:ea typeface="Space Grotesk Medium" pitchFamily="34" charset="-122"/>
                <a:cs typeface="Space Grotesk Medium" pitchFamily="34" charset="-120"/>
              </a:rPr>
              <a:t>Our EMM Implementation Approach</a:t>
            </a:r>
            <a:endParaRPr lang="en-US" sz="2900" dirty="0"/>
          </a:p>
        </p:txBody>
      </p:sp>
      <p:sp>
        <p:nvSpPr>
          <p:cNvPr id="19" name="Text 1"/>
          <p:cNvSpPr/>
          <p:nvPr/>
        </p:nvSpPr>
        <p:spPr>
          <a:xfrm>
            <a:off x="661475" y="2245519"/>
            <a:ext cx="10868745" cy="1364258"/>
          </a:xfrm>
          <a:prstGeom prst="rect">
            <a:avLst/>
          </a:prstGeom>
          <a:noFill/>
          <a:ln/>
        </p:spPr>
        <p:txBody>
          <a:bodyPr wrap="square" lIns="0" tIns="0" rIns="0" bIns="0" rtlCol="0" anchor="t">
            <a:normAutofit/>
          </a:bodyPr>
          <a:lstStyle/>
          <a:p>
            <a:pPr marL="0" indent="0" algn="l">
              <a:lnSpc>
                <a:spcPct val="125000"/>
              </a:lnSpc>
              <a:spcAft>
                <a:spcPts val="1450"/>
              </a:spcAft>
              <a:buNone/>
            </a:pPr>
            <a:r>
              <a:rPr lang="en-US" sz="1300" dirty="0">
                <a:solidFill>
                  <a:srgbClr val="CFCFCF"/>
                </a:solidFill>
                <a:latin typeface="Source Sans 3" pitchFamily="34" charset="0"/>
                <a:ea typeface="Source Sans 3" pitchFamily="34" charset="-122"/>
                <a:cs typeface="Source Sans 3" pitchFamily="34" charset="-120"/>
              </a:rPr>
              <a:t>Our proven Enterprise Mobility Management methodology follows a structured three-phase approach designed to minimize disruption while maximizing security and compliance. Each phase builds upon the previous one to ensure comprehensive device management transformation.</a:t>
            </a:r>
            <a:endParaRPr lang="en-US" sz="1300" dirty="0"/>
          </a:p>
          <a:p>
            <a:pPr marL="0" indent="0" algn="l">
              <a:lnSpc>
                <a:spcPct val="125000"/>
              </a:lnSpc>
              <a:spcAft>
                <a:spcPts val="1450"/>
              </a:spcAft>
              <a:buNone/>
            </a:pPr>
            <a:endParaRPr lang="en-US" sz="1300" dirty="0"/>
          </a:p>
        </p:txBody>
      </p:sp>
      <p:sp>
        <p:nvSpPr>
          <p:cNvPr id="20" name="Shape 2"/>
          <p:cNvSpPr/>
          <p:nvPr/>
        </p:nvSpPr>
        <p:spPr>
          <a:xfrm>
            <a:off x="661475" y="3837087"/>
            <a:ext cx="10868745" cy="19050"/>
          </a:xfrm>
          <a:prstGeom prst="roundRect">
            <a:avLst>
              <a:gd name="adj" fmla="val 49999"/>
            </a:avLst>
          </a:prstGeom>
          <a:solidFill>
            <a:srgbClr val="CFCFCF">
              <a:alpha val="50000"/>
            </a:srgbClr>
          </a:solidFill>
          <a:ln/>
        </p:spPr>
      </p:sp>
      <p:pic>
        <p:nvPicPr>
          <p:cNvPr id="21" name="Image 1" descr="preencoded.png"/>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661475" y="4083447"/>
            <a:ext cx="413434" cy="413445"/>
          </a:xfrm>
          <a:prstGeom prst="rect">
            <a:avLst/>
          </a:prstGeom>
        </p:spPr>
      </p:pic>
      <p:sp>
        <p:nvSpPr>
          <p:cNvPr id="22" name="Text 3"/>
          <p:cNvSpPr/>
          <p:nvPr/>
        </p:nvSpPr>
        <p:spPr>
          <a:xfrm>
            <a:off x="661475" y="4703564"/>
            <a:ext cx="3485071" cy="223242"/>
          </a:xfrm>
          <a:prstGeom prst="rect">
            <a:avLst/>
          </a:prstGeom>
          <a:noFill/>
          <a:ln/>
        </p:spPr>
        <p:txBody>
          <a:bodyPr wrap="none" lIns="0" tIns="0" rIns="0" bIns="0" rtlCol="0" anchor="t"/>
          <a:lstStyle/>
          <a:p>
            <a:pPr marL="0" indent="0" algn="l">
              <a:lnSpc>
                <a:spcPct val="83000"/>
              </a:lnSpc>
              <a:buNone/>
            </a:pPr>
            <a:r>
              <a:rPr lang="en-US" sz="1750" b="1" dirty="0">
                <a:solidFill>
                  <a:srgbClr val="42A1AD"/>
                </a:solidFill>
                <a:latin typeface="Space Grotesk Bold" pitchFamily="34" charset="0"/>
                <a:ea typeface="Space Grotesk Bold" pitchFamily="34" charset="-122"/>
                <a:cs typeface="Space Grotesk Bold" pitchFamily="34" charset="-120"/>
              </a:rPr>
              <a:t>Discovery &amp; Assessment</a:t>
            </a:r>
            <a:endParaRPr lang="en-US" sz="1750" dirty="0"/>
          </a:p>
        </p:txBody>
      </p:sp>
      <p:sp>
        <p:nvSpPr>
          <p:cNvPr id="23" name="Text 4"/>
          <p:cNvSpPr/>
          <p:nvPr/>
        </p:nvSpPr>
        <p:spPr>
          <a:xfrm>
            <a:off x="661475" y="5026025"/>
            <a:ext cx="3485071" cy="1240234"/>
          </a:xfrm>
          <a:prstGeom prst="rect">
            <a:avLst/>
          </a:prstGeom>
          <a:noFill/>
          <a:ln/>
        </p:spPr>
        <p:txBody>
          <a:bodyPr wrap="square" lIns="0" tIns="0" rIns="0" bIns="0" rtlCol="0" anchor="t">
            <a:normAutofit/>
          </a:bodyPr>
          <a:lstStyle/>
          <a:p>
            <a:pPr marL="0" indent="0" algn="l">
              <a:lnSpc>
                <a:spcPct val="125000"/>
              </a:lnSpc>
              <a:buNone/>
            </a:pPr>
            <a:r>
              <a:rPr lang="en-US" sz="1300" dirty="0">
                <a:solidFill>
                  <a:srgbClr val="CFCFCF"/>
                </a:solidFill>
                <a:latin typeface="Source Sans 3" pitchFamily="34" charset="0"/>
                <a:ea typeface="Source Sans 3" pitchFamily="34" charset="-122"/>
                <a:cs typeface="Source Sans 3" pitchFamily="34" charset="-120"/>
              </a:rPr>
              <a:t>We conduct comprehensive audits of existing device inventory, security posture, and compliance requirements. Stakeholder interviews identify pain points and define success metrics for the implementation.</a:t>
            </a:r>
            <a:endParaRPr lang="en-US" sz="1300" dirty="0"/>
          </a:p>
        </p:txBody>
      </p:sp>
      <p:pic>
        <p:nvPicPr>
          <p:cNvPr id="24" name="Image 2" descr="preencoded.png"/>
          <p:cNvPicPr>
            <a:picLocks noChangeAspect="1"/>
          </p:cNvPicPr>
          <p:nvPr/>
        </p:nvPicPr>
        <p:blipFill>
          <a:blip r:embed="rId6">
            <a:extLst>
              <a:ext uri="{96DAC541-7B7A-43D3-8B79-37D633B846F1}">
                <asvg:svgBlip xmlns:asvg="http://schemas.microsoft.com/office/drawing/2016/SVG/main" xmlns="" r:embed="rId7"/>
              </a:ext>
            </a:extLst>
          </a:blip>
          <a:stretch>
            <a:fillRect/>
          </a:stretch>
        </p:blipFill>
        <p:spPr>
          <a:xfrm>
            <a:off x="4353213" y="4083447"/>
            <a:ext cx="413434" cy="413445"/>
          </a:xfrm>
          <a:prstGeom prst="rect">
            <a:avLst/>
          </a:prstGeom>
        </p:spPr>
      </p:pic>
      <p:sp>
        <p:nvSpPr>
          <p:cNvPr id="25" name="Text 5"/>
          <p:cNvSpPr/>
          <p:nvPr/>
        </p:nvSpPr>
        <p:spPr>
          <a:xfrm>
            <a:off x="4353213" y="4703564"/>
            <a:ext cx="3485170" cy="223242"/>
          </a:xfrm>
          <a:prstGeom prst="rect">
            <a:avLst/>
          </a:prstGeom>
          <a:noFill/>
          <a:ln/>
        </p:spPr>
        <p:txBody>
          <a:bodyPr wrap="none" lIns="0" tIns="0" rIns="0" bIns="0" rtlCol="0" anchor="t"/>
          <a:lstStyle/>
          <a:p>
            <a:pPr marL="0" indent="0" algn="l">
              <a:lnSpc>
                <a:spcPct val="83000"/>
              </a:lnSpc>
              <a:buNone/>
            </a:pPr>
            <a:r>
              <a:rPr lang="en-US" sz="1750" b="1" dirty="0">
                <a:solidFill>
                  <a:srgbClr val="42A1AD"/>
                </a:solidFill>
                <a:latin typeface="Space Grotesk Bold" pitchFamily="34" charset="0"/>
                <a:ea typeface="Space Grotesk Bold" pitchFamily="34" charset="-122"/>
                <a:cs typeface="Space Grotesk Bold" pitchFamily="34" charset="-120"/>
              </a:rPr>
              <a:t>Deployment &amp; Enrollment</a:t>
            </a:r>
            <a:endParaRPr lang="en-US" sz="1750" dirty="0"/>
          </a:p>
        </p:txBody>
      </p:sp>
      <p:sp>
        <p:nvSpPr>
          <p:cNvPr id="26" name="Text 6"/>
          <p:cNvSpPr/>
          <p:nvPr/>
        </p:nvSpPr>
        <p:spPr>
          <a:xfrm>
            <a:off x="4353213" y="5026025"/>
            <a:ext cx="3485170" cy="1240234"/>
          </a:xfrm>
          <a:prstGeom prst="rect">
            <a:avLst/>
          </a:prstGeom>
          <a:noFill/>
          <a:ln/>
        </p:spPr>
        <p:txBody>
          <a:bodyPr wrap="square" lIns="0" tIns="0" rIns="0" bIns="0" rtlCol="0" anchor="t">
            <a:normAutofit/>
          </a:bodyPr>
          <a:lstStyle/>
          <a:p>
            <a:pPr marL="0" indent="0" algn="l">
              <a:lnSpc>
                <a:spcPct val="125000"/>
              </a:lnSpc>
              <a:buNone/>
            </a:pPr>
            <a:r>
              <a:rPr lang="en-US" sz="1300" dirty="0">
                <a:solidFill>
                  <a:srgbClr val="CFCFCF"/>
                </a:solidFill>
                <a:latin typeface="Source Sans 3" pitchFamily="34" charset="0"/>
                <a:ea typeface="Source Sans 3" pitchFamily="34" charset="-122"/>
                <a:cs typeface="Source Sans 3" pitchFamily="34" charset="-120"/>
              </a:rPr>
              <a:t>We deploy the EMM platform with automated enrollment workflows, policy templates, and integration with existing IT systems. Comprehensive training ensures IT teams and end-users understand the new processes.</a:t>
            </a:r>
            <a:endParaRPr lang="en-US" sz="1300" dirty="0"/>
          </a:p>
        </p:txBody>
      </p:sp>
      <p:pic>
        <p:nvPicPr>
          <p:cNvPr id="27" name="Image 3" descr="preencoded.png"/>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8045050" y="4083447"/>
            <a:ext cx="413434" cy="413445"/>
          </a:xfrm>
          <a:prstGeom prst="rect">
            <a:avLst/>
          </a:prstGeom>
        </p:spPr>
      </p:pic>
      <p:sp>
        <p:nvSpPr>
          <p:cNvPr id="28" name="Text 7"/>
          <p:cNvSpPr/>
          <p:nvPr/>
        </p:nvSpPr>
        <p:spPr>
          <a:xfrm>
            <a:off x="8045050" y="4703564"/>
            <a:ext cx="3485170" cy="223242"/>
          </a:xfrm>
          <a:prstGeom prst="rect">
            <a:avLst/>
          </a:prstGeom>
          <a:noFill/>
          <a:ln/>
        </p:spPr>
        <p:txBody>
          <a:bodyPr wrap="none" lIns="0" tIns="0" rIns="0" bIns="0" rtlCol="0" anchor="t"/>
          <a:lstStyle/>
          <a:p>
            <a:pPr marL="0" indent="0" algn="l">
              <a:lnSpc>
                <a:spcPct val="83000"/>
              </a:lnSpc>
              <a:buNone/>
            </a:pPr>
            <a:r>
              <a:rPr lang="en-US" sz="1750" b="1" dirty="0">
                <a:solidFill>
                  <a:srgbClr val="42A1AD"/>
                </a:solidFill>
                <a:latin typeface="Space Grotesk Bold" pitchFamily="34" charset="0"/>
                <a:ea typeface="Space Grotesk Bold" pitchFamily="34" charset="-122"/>
                <a:cs typeface="Space Grotesk Bold" pitchFamily="34" charset="-120"/>
              </a:rPr>
              <a:t>Optimization &amp; Monitoring</a:t>
            </a:r>
            <a:endParaRPr lang="en-US" sz="1750" dirty="0"/>
          </a:p>
        </p:txBody>
      </p:sp>
      <p:sp>
        <p:nvSpPr>
          <p:cNvPr id="29" name="Text 8"/>
          <p:cNvSpPr/>
          <p:nvPr/>
        </p:nvSpPr>
        <p:spPr>
          <a:xfrm>
            <a:off x="8045050" y="5026025"/>
            <a:ext cx="3485170" cy="1240234"/>
          </a:xfrm>
          <a:prstGeom prst="rect">
            <a:avLst/>
          </a:prstGeom>
          <a:noFill/>
          <a:ln/>
        </p:spPr>
        <p:txBody>
          <a:bodyPr wrap="square" lIns="0" tIns="0" rIns="0" bIns="0" rtlCol="0" anchor="t">
            <a:normAutofit/>
          </a:bodyPr>
          <a:lstStyle/>
          <a:p>
            <a:pPr marL="0" indent="0" algn="l">
              <a:lnSpc>
                <a:spcPct val="125000"/>
              </a:lnSpc>
              <a:buNone/>
            </a:pPr>
            <a:r>
              <a:rPr lang="en-US" sz="1300" dirty="0">
                <a:solidFill>
                  <a:srgbClr val="CFCFCF"/>
                </a:solidFill>
                <a:latin typeface="Source Sans 3" pitchFamily="34" charset="0"/>
                <a:ea typeface="Source Sans 3" pitchFamily="34" charset="-122"/>
                <a:cs typeface="Source Sans 3" pitchFamily="34" charset="-120"/>
              </a:rPr>
              <a:t>We establish ongoing monitoring dashboards, security alerts, and compliance reporting. Continuous optimization recommendations ensure the platform evolves with your organization's needs.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828899"/>
            <a:ext cx="11478330" cy="248047"/>
          </a:xfrm>
          <a:prstGeom prst="rect">
            <a:avLst/>
          </a:prstGeom>
          <a:noFill/>
          <a:ln/>
        </p:spPr>
        <p:txBody>
          <a:bodyPr wrap="none" lIns="0" tIns="0" rIns="0" bIns="0" rtlCol="0" anchor="t"/>
          <a:lstStyle/>
          <a:p>
            <a:pPr marL="0" indent="0" algn="l">
              <a:lnSpc>
                <a:spcPct val="125000"/>
              </a:lnSpc>
              <a:buNone/>
            </a:pPr>
            <a:endParaRPr lang="en-US" sz="1300" dirty="0"/>
          </a:p>
        </p:txBody>
      </p:sp>
      <p:sp>
        <p:nvSpPr>
          <p:cNvPr id="3" name="Shape 0"/>
          <p:cNvSpPr/>
          <p:nvPr/>
        </p:nvSpPr>
        <p:spPr>
          <a:xfrm>
            <a:off x="661475" y="495598"/>
            <a:ext cx="1450046" cy="247352"/>
          </a:xfrm>
          <a:prstGeom prst="roundRect">
            <a:avLst>
              <a:gd name="adj" fmla="val 47390"/>
            </a:avLst>
          </a:prstGeom>
          <a:noFill/>
          <a:ln w="12700">
            <a:solidFill>
              <a:srgbClr val="CFCFCF"/>
            </a:solidFill>
            <a:prstDash val="solid"/>
          </a:ln>
        </p:spPr>
      </p:sp>
      <p:pic>
        <p:nvPicPr>
          <p:cNvPr id="4" name="Image 0" descr="preencoded.png"/>
          <p:cNvPicPr>
            <a:picLocks noChangeAspect="1"/>
          </p:cNvPicPr>
          <p:nvPr/>
        </p:nvPicPr>
        <p:blipFill>
          <a:blip r:embed="rId3"/>
          <a:stretch>
            <a:fillRect/>
          </a:stretch>
        </p:blipFill>
        <p:spPr>
          <a:xfrm>
            <a:off x="759104" y="554137"/>
            <a:ext cx="130172" cy="130175"/>
          </a:xfrm>
          <a:prstGeom prst="rect">
            <a:avLst/>
          </a:prstGeom>
        </p:spPr>
      </p:pic>
      <p:sp>
        <p:nvSpPr>
          <p:cNvPr id="5" name="Text 1"/>
          <p:cNvSpPr/>
          <p:nvPr/>
        </p:nvSpPr>
        <p:spPr>
          <a:xfrm>
            <a:off x="954361" y="544413"/>
            <a:ext cx="1669115" cy="149721"/>
          </a:xfrm>
          <a:prstGeom prst="rect">
            <a:avLst/>
          </a:prstGeom>
          <a:noFill/>
          <a:ln/>
        </p:spPr>
        <p:txBody>
          <a:bodyPr wrap="none" lIns="0" tIns="0" rIns="0" bIns="0" rtlCol="0" anchor="t"/>
          <a:lstStyle/>
          <a:p>
            <a:pPr marL="0" indent="0" algn="l">
              <a:lnSpc>
                <a:spcPct val="96000"/>
              </a:lnSpc>
              <a:buNone/>
            </a:pPr>
            <a:r>
              <a:rPr lang="en-US" sz="1000" dirty="0">
                <a:solidFill>
                  <a:srgbClr val="CFCFCF"/>
                </a:solidFill>
                <a:latin typeface="Source Sans 3" pitchFamily="34" charset="0"/>
                <a:ea typeface="Source Sans 3" pitchFamily="34" charset="-122"/>
                <a:cs typeface="Source Sans 3" pitchFamily="34" charset="-120"/>
              </a:rPr>
              <a:t>CORE CAPABILITIES</a:t>
            </a:r>
            <a:endParaRPr lang="en-US" sz="1000" dirty="0"/>
          </a:p>
        </p:txBody>
      </p:sp>
      <p:sp>
        <p:nvSpPr>
          <p:cNvPr id="6" name="Text 2"/>
          <p:cNvSpPr/>
          <p:nvPr/>
        </p:nvSpPr>
        <p:spPr>
          <a:xfrm>
            <a:off x="661475" y="807045"/>
            <a:ext cx="10868745" cy="366316"/>
          </a:xfrm>
          <a:prstGeom prst="rect">
            <a:avLst/>
          </a:prstGeom>
          <a:noFill/>
          <a:ln/>
        </p:spPr>
        <p:txBody>
          <a:bodyPr wrap="none" lIns="0" tIns="0" rIns="0" bIns="0" rtlCol="0" anchor="t"/>
          <a:lstStyle/>
          <a:p>
            <a:pPr marL="0" indent="0" algn="l">
              <a:lnSpc>
                <a:spcPct val="83000"/>
              </a:lnSpc>
              <a:buNone/>
            </a:pPr>
            <a:r>
              <a:rPr lang="en-US" sz="2850" dirty="0">
                <a:solidFill>
                  <a:srgbClr val="FFFFFF"/>
                </a:solidFill>
                <a:latin typeface="Space Grotesk Medium" pitchFamily="34" charset="0"/>
                <a:ea typeface="Space Grotesk Medium" pitchFamily="34" charset="-122"/>
                <a:cs typeface="Space Grotesk Medium" pitchFamily="34" charset="-120"/>
              </a:rPr>
              <a:t>Enterprise-Grade EMM Features</a:t>
            </a:r>
            <a:endParaRPr lang="en-US" sz="2850" dirty="0"/>
          </a:p>
        </p:txBody>
      </p:sp>
      <p:sp>
        <p:nvSpPr>
          <p:cNvPr id="7" name="Text 3"/>
          <p:cNvSpPr/>
          <p:nvPr/>
        </p:nvSpPr>
        <p:spPr>
          <a:xfrm>
            <a:off x="661475" y="1413669"/>
            <a:ext cx="10868745" cy="1087437"/>
          </a:xfrm>
          <a:prstGeom prst="rect">
            <a:avLst/>
          </a:prstGeom>
          <a:noFill/>
          <a:ln/>
        </p:spPr>
        <p:txBody>
          <a:bodyPr wrap="square" lIns="0" tIns="0" rIns="0" bIns="0" rtlCol="0" anchor="t"/>
          <a:lstStyle/>
          <a:p>
            <a:pPr marL="0" indent="0" algn="l">
              <a:lnSpc>
                <a:spcPct val="124000"/>
              </a:lnSpc>
              <a:spcAft>
                <a:spcPts val="1400"/>
              </a:spcAft>
              <a:buNone/>
            </a:pPr>
            <a:endParaRPr lang="en-US" sz="1250" dirty="0"/>
          </a:p>
          <a:p>
            <a:pPr marL="0" indent="0" algn="l">
              <a:lnSpc>
                <a:spcPct val="124000"/>
              </a:lnSpc>
              <a:spcAft>
                <a:spcPts val="1400"/>
              </a:spcAft>
              <a:buNone/>
            </a:pPr>
            <a:endParaRPr lang="en-US" sz="1250" dirty="0"/>
          </a:p>
        </p:txBody>
      </p:sp>
      <p:sp>
        <p:nvSpPr>
          <p:cNvPr id="8" name="Shape 4"/>
          <p:cNvSpPr/>
          <p:nvPr/>
        </p:nvSpPr>
        <p:spPr>
          <a:xfrm>
            <a:off x="661475" y="4521895"/>
            <a:ext cx="10868745" cy="19050"/>
          </a:xfrm>
          <a:prstGeom prst="roundRect">
            <a:avLst>
              <a:gd name="adj" fmla="val 49999"/>
            </a:avLst>
          </a:prstGeom>
          <a:solidFill>
            <a:srgbClr val="288793"/>
          </a:solidFill>
          <a:ln/>
        </p:spPr>
      </p:sp>
      <p:sp>
        <p:nvSpPr>
          <p:cNvPr id="9" name="Shape 5"/>
          <p:cNvSpPr/>
          <p:nvPr/>
        </p:nvSpPr>
        <p:spPr>
          <a:xfrm>
            <a:off x="2396569" y="4033540"/>
            <a:ext cx="19050" cy="488355"/>
          </a:xfrm>
          <a:prstGeom prst="roundRect">
            <a:avLst>
              <a:gd name="adj" fmla="val 49999"/>
            </a:avLst>
          </a:prstGeom>
          <a:solidFill>
            <a:srgbClr val="288793"/>
          </a:solidFill>
          <a:ln/>
        </p:spPr>
      </p:sp>
      <p:sp>
        <p:nvSpPr>
          <p:cNvPr id="10" name="Shape 6"/>
          <p:cNvSpPr/>
          <p:nvPr/>
        </p:nvSpPr>
        <p:spPr>
          <a:xfrm>
            <a:off x="2222940" y="4338737"/>
            <a:ext cx="366306" cy="366316"/>
          </a:xfrm>
          <a:prstGeom prst="roundRect">
            <a:avLst>
              <a:gd name="adj" fmla="val 40001"/>
            </a:avLst>
          </a:prstGeom>
          <a:solidFill>
            <a:srgbClr val="42A1AD"/>
          </a:solidFill>
          <a:ln w="19050">
            <a:solidFill>
              <a:srgbClr val="288793"/>
            </a:solidFill>
            <a:prstDash val="solid"/>
          </a:ln>
        </p:spPr>
      </p:sp>
      <p:pic>
        <p:nvPicPr>
          <p:cNvPr id="11" name="Image 1" descr="preencoded.png"/>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2296212" y="4412010"/>
            <a:ext cx="219764" cy="219770"/>
          </a:xfrm>
          <a:prstGeom prst="rect">
            <a:avLst/>
          </a:prstGeom>
        </p:spPr>
      </p:pic>
      <p:sp>
        <p:nvSpPr>
          <p:cNvPr id="12" name="Text 7"/>
          <p:cNvSpPr/>
          <p:nvPr/>
        </p:nvSpPr>
        <p:spPr>
          <a:xfrm>
            <a:off x="824190" y="2681387"/>
            <a:ext cx="3163908" cy="183158"/>
          </a:xfrm>
          <a:prstGeom prst="rect">
            <a:avLst/>
          </a:prstGeom>
          <a:noFill/>
          <a:ln/>
        </p:spPr>
        <p:txBody>
          <a:bodyPr wrap="none" lIns="0" tIns="0" rIns="0" bIns="0" rtlCol="0" anchor="t"/>
          <a:lstStyle/>
          <a:p>
            <a:pPr marL="0" indent="0" algn="ctr">
              <a:lnSpc>
                <a:spcPct val="83000"/>
              </a:lnSpc>
              <a:buNone/>
            </a:pPr>
            <a:r>
              <a:rPr lang="en-US" sz="1400" b="1" dirty="0">
                <a:solidFill>
                  <a:srgbClr val="FFFFFF"/>
                </a:solidFill>
                <a:latin typeface="Space Grotesk Bold" pitchFamily="34" charset="0"/>
                <a:ea typeface="Space Grotesk Bold" pitchFamily="34" charset="-122"/>
                <a:cs typeface="Space Grotesk Bold" pitchFamily="34" charset="-120"/>
              </a:rPr>
              <a:t>Unified Device Management</a:t>
            </a:r>
            <a:endParaRPr lang="en-US" sz="1400" dirty="0"/>
          </a:p>
        </p:txBody>
      </p:sp>
      <p:sp>
        <p:nvSpPr>
          <p:cNvPr id="13" name="Text 8"/>
          <p:cNvSpPr/>
          <p:nvPr/>
        </p:nvSpPr>
        <p:spPr>
          <a:xfrm>
            <a:off x="824190" y="2960688"/>
            <a:ext cx="3163908" cy="726877"/>
          </a:xfrm>
          <a:prstGeom prst="rect">
            <a:avLst/>
          </a:prstGeom>
          <a:noFill/>
          <a:ln/>
        </p:spPr>
        <p:txBody>
          <a:bodyPr wrap="square" lIns="0" tIns="0" rIns="0" bIns="0" rtlCol="0" anchor="t">
            <a:normAutofit/>
          </a:bodyPr>
          <a:lstStyle/>
          <a:p>
            <a:pPr marL="0" indent="0" algn="ctr">
              <a:lnSpc>
                <a:spcPct val="124000"/>
              </a:lnSpc>
              <a:buNone/>
            </a:pPr>
            <a:r>
              <a:rPr lang="en-US" sz="1250" dirty="0">
                <a:solidFill>
                  <a:srgbClr val="CFCFCF"/>
                </a:solidFill>
                <a:latin typeface="Source Sans 3" pitchFamily="34" charset="0"/>
                <a:ea typeface="Source Sans 3" pitchFamily="34" charset="-122"/>
                <a:cs typeface="Source Sans 3" pitchFamily="34" charset="-120"/>
              </a:rPr>
              <a:t>Single console for managing Android, iOS, and Windows devices across all ownership models and deployment scenarios.</a:t>
            </a:r>
            <a:endParaRPr lang="en-US" sz="1250" dirty="0"/>
          </a:p>
        </p:txBody>
      </p:sp>
      <p:sp>
        <p:nvSpPr>
          <p:cNvPr id="14" name="Shape 9"/>
          <p:cNvSpPr/>
          <p:nvPr/>
        </p:nvSpPr>
        <p:spPr>
          <a:xfrm>
            <a:off x="4241396" y="4521895"/>
            <a:ext cx="19050" cy="488355"/>
          </a:xfrm>
          <a:prstGeom prst="roundRect">
            <a:avLst>
              <a:gd name="adj" fmla="val 49999"/>
            </a:avLst>
          </a:prstGeom>
          <a:solidFill>
            <a:srgbClr val="288793"/>
          </a:solidFill>
          <a:ln/>
        </p:spPr>
      </p:sp>
      <p:sp>
        <p:nvSpPr>
          <p:cNvPr id="15" name="Shape 10"/>
          <p:cNvSpPr/>
          <p:nvPr/>
        </p:nvSpPr>
        <p:spPr>
          <a:xfrm>
            <a:off x="4067768" y="4338737"/>
            <a:ext cx="366306" cy="366316"/>
          </a:xfrm>
          <a:prstGeom prst="roundRect">
            <a:avLst>
              <a:gd name="adj" fmla="val 40001"/>
            </a:avLst>
          </a:prstGeom>
          <a:solidFill>
            <a:srgbClr val="42A1AD"/>
          </a:solidFill>
          <a:ln w="19050">
            <a:solidFill>
              <a:srgbClr val="288793"/>
            </a:solidFill>
            <a:prstDash val="solid"/>
          </a:ln>
        </p:spPr>
      </p:sp>
      <p:pic>
        <p:nvPicPr>
          <p:cNvPr id="16" name="Image 2" descr="preencoded.png"/>
          <p:cNvPicPr>
            <a:picLocks noChangeAspect="1"/>
          </p:cNvPicPr>
          <p:nvPr/>
        </p:nvPicPr>
        <p:blipFill>
          <a:blip r:embed="rId6">
            <a:extLst>
              <a:ext uri="{96DAC541-7B7A-43D3-8B79-37D633B846F1}">
                <asvg:svgBlip xmlns:asvg="http://schemas.microsoft.com/office/drawing/2016/SVG/main" xmlns="" r:embed="rId7"/>
              </a:ext>
            </a:extLst>
          </a:blip>
          <a:stretch>
            <a:fillRect/>
          </a:stretch>
        </p:blipFill>
        <p:spPr>
          <a:xfrm>
            <a:off x="4141039" y="4412010"/>
            <a:ext cx="219764" cy="219770"/>
          </a:xfrm>
          <a:prstGeom prst="rect">
            <a:avLst/>
          </a:prstGeom>
        </p:spPr>
      </p:pic>
      <p:sp>
        <p:nvSpPr>
          <p:cNvPr id="17" name="Text 11"/>
          <p:cNvSpPr/>
          <p:nvPr/>
        </p:nvSpPr>
        <p:spPr>
          <a:xfrm>
            <a:off x="2669017" y="5173067"/>
            <a:ext cx="3163908" cy="183158"/>
          </a:xfrm>
          <a:prstGeom prst="rect">
            <a:avLst/>
          </a:prstGeom>
          <a:noFill/>
          <a:ln/>
        </p:spPr>
        <p:txBody>
          <a:bodyPr wrap="none" lIns="0" tIns="0" rIns="0" bIns="0" rtlCol="0" anchor="t"/>
          <a:lstStyle/>
          <a:p>
            <a:pPr marL="0" indent="0" algn="ctr">
              <a:lnSpc>
                <a:spcPct val="83000"/>
              </a:lnSpc>
              <a:buNone/>
            </a:pPr>
            <a:r>
              <a:rPr lang="en-US" sz="1400" b="1" dirty="0">
                <a:solidFill>
                  <a:srgbClr val="FFFFFF"/>
                </a:solidFill>
                <a:latin typeface="Space Grotesk Bold" pitchFamily="34" charset="0"/>
                <a:ea typeface="Space Grotesk Bold" pitchFamily="34" charset="-122"/>
                <a:cs typeface="Space Grotesk Bold" pitchFamily="34" charset="-120"/>
              </a:rPr>
              <a:t>Advanced Security &amp; Compliance</a:t>
            </a:r>
            <a:endParaRPr lang="en-US" sz="1400" dirty="0"/>
          </a:p>
        </p:txBody>
      </p:sp>
      <p:sp>
        <p:nvSpPr>
          <p:cNvPr id="18" name="Text 12"/>
          <p:cNvSpPr/>
          <p:nvPr/>
        </p:nvSpPr>
        <p:spPr>
          <a:xfrm>
            <a:off x="2669017" y="5452368"/>
            <a:ext cx="3163908" cy="726877"/>
          </a:xfrm>
          <a:prstGeom prst="rect">
            <a:avLst/>
          </a:prstGeom>
          <a:noFill/>
          <a:ln/>
        </p:spPr>
        <p:txBody>
          <a:bodyPr wrap="square" lIns="0" tIns="0" rIns="0" bIns="0" rtlCol="0" anchor="t">
            <a:normAutofit/>
          </a:bodyPr>
          <a:lstStyle/>
          <a:p>
            <a:pPr marL="0" indent="0" algn="ctr">
              <a:lnSpc>
                <a:spcPct val="124000"/>
              </a:lnSpc>
              <a:buNone/>
            </a:pPr>
            <a:r>
              <a:rPr lang="en-US" sz="1250" dirty="0">
                <a:solidFill>
                  <a:srgbClr val="CFCFCF"/>
                </a:solidFill>
                <a:latin typeface="Source Sans 3" pitchFamily="34" charset="0"/>
                <a:ea typeface="Source Sans 3" pitchFamily="34" charset="-122"/>
                <a:cs typeface="Source Sans 3" pitchFamily="34" charset="-120"/>
              </a:rPr>
              <a:t>Real-time threat detection, encryption enforcement, and automated compliance reporting for regulatory requirements.</a:t>
            </a:r>
            <a:endParaRPr lang="en-US" sz="1250" dirty="0"/>
          </a:p>
        </p:txBody>
      </p:sp>
      <p:sp>
        <p:nvSpPr>
          <p:cNvPr id="19" name="Shape 13"/>
          <p:cNvSpPr/>
          <p:nvPr/>
        </p:nvSpPr>
        <p:spPr>
          <a:xfrm>
            <a:off x="6086224" y="4033540"/>
            <a:ext cx="19050" cy="488355"/>
          </a:xfrm>
          <a:prstGeom prst="roundRect">
            <a:avLst>
              <a:gd name="adj" fmla="val 49999"/>
            </a:avLst>
          </a:prstGeom>
          <a:solidFill>
            <a:srgbClr val="288793"/>
          </a:solidFill>
          <a:ln/>
        </p:spPr>
      </p:sp>
      <p:sp>
        <p:nvSpPr>
          <p:cNvPr id="20" name="Shape 14"/>
          <p:cNvSpPr/>
          <p:nvPr/>
        </p:nvSpPr>
        <p:spPr>
          <a:xfrm>
            <a:off x="5912595" y="4338737"/>
            <a:ext cx="366306" cy="366316"/>
          </a:xfrm>
          <a:prstGeom prst="roundRect">
            <a:avLst>
              <a:gd name="adj" fmla="val 40001"/>
            </a:avLst>
          </a:prstGeom>
          <a:solidFill>
            <a:srgbClr val="42A1AD"/>
          </a:solidFill>
          <a:ln w="19050">
            <a:solidFill>
              <a:srgbClr val="288793"/>
            </a:solidFill>
            <a:prstDash val="solid"/>
          </a:ln>
        </p:spPr>
      </p:sp>
      <p:pic>
        <p:nvPicPr>
          <p:cNvPr id="21" name="Image 3" descr="preencoded.png"/>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5985866" y="4412010"/>
            <a:ext cx="219764" cy="219770"/>
          </a:xfrm>
          <a:prstGeom prst="rect">
            <a:avLst/>
          </a:prstGeom>
        </p:spPr>
      </p:pic>
      <p:sp>
        <p:nvSpPr>
          <p:cNvPr id="22" name="Text 15"/>
          <p:cNvSpPr/>
          <p:nvPr/>
        </p:nvSpPr>
        <p:spPr>
          <a:xfrm>
            <a:off x="4513844" y="2681387"/>
            <a:ext cx="3163908" cy="183158"/>
          </a:xfrm>
          <a:prstGeom prst="rect">
            <a:avLst/>
          </a:prstGeom>
          <a:noFill/>
          <a:ln/>
        </p:spPr>
        <p:txBody>
          <a:bodyPr wrap="none" lIns="0" tIns="0" rIns="0" bIns="0" rtlCol="0" anchor="t"/>
          <a:lstStyle/>
          <a:p>
            <a:pPr marL="0" indent="0" algn="ctr">
              <a:lnSpc>
                <a:spcPct val="83000"/>
              </a:lnSpc>
              <a:buNone/>
            </a:pPr>
            <a:r>
              <a:rPr lang="en-US" sz="1400" b="1" dirty="0">
                <a:solidFill>
                  <a:srgbClr val="FFFFFF"/>
                </a:solidFill>
                <a:latin typeface="Space Grotesk Bold" pitchFamily="34" charset="0"/>
                <a:ea typeface="Space Grotesk Bold" pitchFamily="34" charset="-122"/>
                <a:cs typeface="Space Grotesk Bold" pitchFamily="34" charset="-120"/>
              </a:rPr>
              <a:t>Intelligent Enrollment</a:t>
            </a:r>
            <a:endParaRPr lang="en-US" sz="1400" dirty="0"/>
          </a:p>
        </p:txBody>
      </p:sp>
      <p:sp>
        <p:nvSpPr>
          <p:cNvPr id="23" name="Text 16"/>
          <p:cNvSpPr/>
          <p:nvPr/>
        </p:nvSpPr>
        <p:spPr>
          <a:xfrm>
            <a:off x="4513844" y="2960688"/>
            <a:ext cx="3163908" cy="726877"/>
          </a:xfrm>
          <a:prstGeom prst="rect">
            <a:avLst/>
          </a:prstGeom>
          <a:noFill/>
          <a:ln/>
        </p:spPr>
        <p:txBody>
          <a:bodyPr wrap="square" lIns="0" tIns="0" rIns="0" bIns="0" rtlCol="0" anchor="t">
            <a:normAutofit/>
          </a:bodyPr>
          <a:lstStyle/>
          <a:p>
            <a:pPr marL="0" indent="0" algn="ctr">
              <a:lnSpc>
                <a:spcPct val="124000"/>
              </a:lnSpc>
              <a:buNone/>
            </a:pPr>
            <a:r>
              <a:rPr lang="en-US" sz="1250" dirty="0">
                <a:solidFill>
                  <a:srgbClr val="CFCFCF"/>
                </a:solidFill>
                <a:latin typeface="Source Sans 3" pitchFamily="34" charset="0"/>
                <a:ea typeface="Source Sans 3" pitchFamily="34" charset="-122"/>
                <a:cs typeface="Source Sans 3" pitchFamily="34" charset="-120"/>
              </a:rPr>
              <a:t>Automated, user-friendly enrollment workflows that reduce IT support burden and accelerate device onboarding.</a:t>
            </a:r>
            <a:endParaRPr lang="en-US" sz="1250" dirty="0"/>
          </a:p>
        </p:txBody>
      </p:sp>
      <p:sp>
        <p:nvSpPr>
          <p:cNvPr id="24" name="Shape 17"/>
          <p:cNvSpPr/>
          <p:nvPr/>
        </p:nvSpPr>
        <p:spPr>
          <a:xfrm>
            <a:off x="7931051" y="4521895"/>
            <a:ext cx="19050" cy="488355"/>
          </a:xfrm>
          <a:prstGeom prst="roundRect">
            <a:avLst>
              <a:gd name="adj" fmla="val 49999"/>
            </a:avLst>
          </a:prstGeom>
          <a:solidFill>
            <a:srgbClr val="288793"/>
          </a:solidFill>
          <a:ln/>
        </p:spPr>
      </p:sp>
      <p:sp>
        <p:nvSpPr>
          <p:cNvPr id="25" name="Shape 18"/>
          <p:cNvSpPr/>
          <p:nvPr/>
        </p:nvSpPr>
        <p:spPr>
          <a:xfrm>
            <a:off x="7757422" y="4338737"/>
            <a:ext cx="366306" cy="366316"/>
          </a:xfrm>
          <a:prstGeom prst="roundRect">
            <a:avLst>
              <a:gd name="adj" fmla="val 40001"/>
            </a:avLst>
          </a:prstGeom>
          <a:solidFill>
            <a:srgbClr val="42A1AD"/>
          </a:solidFill>
          <a:ln w="19050">
            <a:solidFill>
              <a:srgbClr val="288793"/>
            </a:solidFill>
            <a:prstDash val="solid"/>
          </a:ln>
        </p:spPr>
      </p:sp>
      <p:pic>
        <p:nvPicPr>
          <p:cNvPr id="26" name="Image 4" descr="preencoded.png"/>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7830694" y="4412010"/>
            <a:ext cx="219764" cy="219770"/>
          </a:xfrm>
          <a:prstGeom prst="rect">
            <a:avLst/>
          </a:prstGeom>
        </p:spPr>
      </p:pic>
      <p:sp>
        <p:nvSpPr>
          <p:cNvPr id="27" name="Text 19"/>
          <p:cNvSpPr/>
          <p:nvPr/>
        </p:nvSpPr>
        <p:spPr>
          <a:xfrm>
            <a:off x="6358671" y="5173067"/>
            <a:ext cx="3163908" cy="366316"/>
          </a:xfrm>
          <a:prstGeom prst="rect">
            <a:avLst/>
          </a:prstGeom>
          <a:noFill/>
          <a:ln/>
        </p:spPr>
        <p:txBody>
          <a:bodyPr wrap="square" lIns="0" tIns="0" rIns="0" bIns="0" rtlCol="0" anchor="t">
            <a:normAutofit/>
          </a:bodyPr>
          <a:lstStyle/>
          <a:p>
            <a:pPr marL="0" indent="0" algn="ctr">
              <a:lnSpc>
                <a:spcPct val="83000"/>
              </a:lnSpc>
              <a:buNone/>
            </a:pPr>
            <a:r>
              <a:rPr lang="en-US" sz="1400" b="1" dirty="0">
                <a:solidFill>
                  <a:srgbClr val="FFFFFF"/>
                </a:solidFill>
                <a:latin typeface="Space Grotesk Bold" pitchFamily="34" charset="0"/>
                <a:ea typeface="Space Grotesk Bold" pitchFamily="34" charset="-122"/>
                <a:cs typeface="Space Grotesk Bold" pitchFamily="34" charset="-120"/>
              </a:rPr>
              <a:t>Policy &amp; Configuration Management</a:t>
            </a:r>
            <a:endParaRPr lang="en-US" sz="1400" dirty="0"/>
          </a:p>
        </p:txBody>
      </p:sp>
      <p:sp>
        <p:nvSpPr>
          <p:cNvPr id="28" name="Text 20"/>
          <p:cNvSpPr/>
          <p:nvPr/>
        </p:nvSpPr>
        <p:spPr>
          <a:xfrm>
            <a:off x="6358671" y="5635526"/>
            <a:ext cx="3163908" cy="726877"/>
          </a:xfrm>
          <a:prstGeom prst="rect">
            <a:avLst/>
          </a:prstGeom>
          <a:noFill/>
          <a:ln/>
        </p:spPr>
        <p:txBody>
          <a:bodyPr wrap="square" lIns="0" tIns="0" rIns="0" bIns="0" rtlCol="0" anchor="t">
            <a:normAutofit/>
          </a:bodyPr>
          <a:lstStyle/>
          <a:p>
            <a:pPr marL="0" indent="0" algn="ctr">
              <a:lnSpc>
                <a:spcPct val="124000"/>
              </a:lnSpc>
              <a:buNone/>
            </a:pPr>
            <a:r>
              <a:rPr lang="en-US" sz="1250" dirty="0">
                <a:solidFill>
                  <a:srgbClr val="CFCFCF"/>
                </a:solidFill>
                <a:latin typeface="Source Sans 3" pitchFamily="34" charset="0"/>
                <a:ea typeface="Source Sans 3" pitchFamily="34" charset="-122"/>
                <a:cs typeface="Source Sans 3" pitchFamily="34" charset="-120"/>
              </a:rPr>
              <a:t>Granular, role-based policies that adapt to different employee segments, departments, and security requirements.</a:t>
            </a:r>
            <a:endParaRPr lang="en-US" sz="1250" dirty="0"/>
          </a:p>
        </p:txBody>
      </p:sp>
      <p:sp>
        <p:nvSpPr>
          <p:cNvPr id="29" name="Shape 21"/>
          <p:cNvSpPr/>
          <p:nvPr/>
        </p:nvSpPr>
        <p:spPr>
          <a:xfrm>
            <a:off x="9775878" y="4033540"/>
            <a:ext cx="19050" cy="488355"/>
          </a:xfrm>
          <a:prstGeom prst="roundRect">
            <a:avLst>
              <a:gd name="adj" fmla="val 49999"/>
            </a:avLst>
          </a:prstGeom>
          <a:solidFill>
            <a:srgbClr val="288793"/>
          </a:solidFill>
          <a:ln/>
        </p:spPr>
      </p:sp>
      <p:sp>
        <p:nvSpPr>
          <p:cNvPr id="30" name="Shape 22"/>
          <p:cNvSpPr/>
          <p:nvPr/>
        </p:nvSpPr>
        <p:spPr>
          <a:xfrm>
            <a:off x="9602250" y="4338737"/>
            <a:ext cx="366306" cy="366316"/>
          </a:xfrm>
          <a:prstGeom prst="roundRect">
            <a:avLst>
              <a:gd name="adj" fmla="val 40001"/>
            </a:avLst>
          </a:prstGeom>
          <a:solidFill>
            <a:srgbClr val="42A1AD"/>
          </a:solidFill>
          <a:ln w="19050">
            <a:solidFill>
              <a:srgbClr val="288793"/>
            </a:solidFill>
            <a:prstDash val="solid"/>
          </a:ln>
        </p:spPr>
      </p:sp>
      <p:pic>
        <p:nvPicPr>
          <p:cNvPr id="31" name="Image 5" descr="preencoded.png"/>
          <p:cNvPicPr>
            <a:picLocks noChangeAspect="1"/>
          </p:cNvPicPr>
          <p:nvPr/>
        </p:nvPicPr>
        <p:blipFill>
          <a:blip r:embed="rId12">
            <a:extLst>
              <a:ext uri="{96DAC541-7B7A-43D3-8B79-37D633B846F1}">
                <asvg:svgBlip xmlns:asvg="http://schemas.microsoft.com/office/drawing/2016/SVG/main" xmlns="" r:embed="rId13"/>
              </a:ext>
            </a:extLst>
          </a:blip>
          <a:stretch>
            <a:fillRect/>
          </a:stretch>
        </p:blipFill>
        <p:spPr>
          <a:xfrm>
            <a:off x="9675521" y="4412010"/>
            <a:ext cx="219764" cy="219770"/>
          </a:xfrm>
          <a:prstGeom prst="rect">
            <a:avLst/>
          </a:prstGeom>
        </p:spPr>
      </p:pic>
      <p:sp>
        <p:nvSpPr>
          <p:cNvPr id="32" name="Text 23"/>
          <p:cNvSpPr/>
          <p:nvPr/>
        </p:nvSpPr>
        <p:spPr>
          <a:xfrm>
            <a:off x="8203499" y="2681387"/>
            <a:ext cx="3163908" cy="366316"/>
          </a:xfrm>
          <a:prstGeom prst="rect">
            <a:avLst/>
          </a:prstGeom>
          <a:noFill/>
          <a:ln/>
        </p:spPr>
        <p:txBody>
          <a:bodyPr wrap="square" lIns="0" tIns="0" rIns="0" bIns="0" rtlCol="0" anchor="t">
            <a:normAutofit/>
          </a:bodyPr>
          <a:lstStyle/>
          <a:p>
            <a:pPr marL="0" indent="0" algn="ctr">
              <a:lnSpc>
                <a:spcPct val="83000"/>
              </a:lnSpc>
              <a:buNone/>
            </a:pPr>
            <a:r>
              <a:rPr lang="en-US" sz="1400" b="1" dirty="0">
                <a:solidFill>
                  <a:srgbClr val="FFFFFF"/>
                </a:solidFill>
                <a:latin typeface="Space Grotesk Bold" pitchFamily="34" charset="0"/>
                <a:ea typeface="Space Grotesk Bold" pitchFamily="34" charset="-122"/>
                <a:cs typeface="Space Grotesk Bold" pitchFamily="34" charset="-120"/>
              </a:rPr>
              <a:t>Comprehensive Reporting &amp; Analytics</a:t>
            </a:r>
            <a:endParaRPr lang="en-US" sz="1400" dirty="0"/>
          </a:p>
        </p:txBody>
      </p:sp>
      <p:sp>
        <p:nvSpPr>
          <p:cNvPr id="33" name="Text 24"/>
          <p:cNvSpPr/>
          <p:nvPr/>
        </p:nvSpPr>
        <p:spPr>
          <a:xfrm>
            <a:off x="8203499" y="3143845"/>
            <a:ext cx="3163908" cy="726877"/>
          </a:xfrm>
          <a:prstGeom prst="rect">
            <a:avLst/>
          </a:prstGeom>
          <a:noFill/>
          <a:ln/>
        </p:spPr>
        <p:txBody>
          <a:bodyPr wrap="square" lIns="0" tIns="0" rIns="0" bIns="0" rtlCol="0" anchor="t">
            <a:normAutofit/>
          </a:bodyPr>
          <a:lstStyle/>
          <a:p>
            <a:pPr marL="0" indent="0" algn="ctr">
              <a:lnSpc>
                <a:spcPct val="124000"/>
              </a:lnSpc>
              <a:buNone/>
            </a:pPr>
            <a:r>
              <a:rPr lang="en-US" sz="1250" dirty="0">
                <a:solidFill>
                  <a:srgbClr val="CFCFCF"/>
                </a:solidFill>
                <a:latin typeface="Source Sans 3" pitchFamily="34" charset="0"/>
                <a:ea typeface="Source Sans 3" pitchFamily="34" charset="-122"/>
                <a:cs typeface="Source Sans 3" pitchFamily="34" charset="-120"/>
              </a:rPr>
              <a:t>Real-time dashboards and detailed reports providing visibility into device inventory, compliance status, and security posture.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828899"/>
            <a:ext cx="11478330" cy="248047"/>
          </a:xfrm>
          <a:prstGeom prst="rect">
            <a:avLst/>
          </a:prstGeom>
          <a:noFill/>
          <a:ln/>
        </p:spPr>
        <p:txBody>
          <a:bodyPr wrap="none" lIns="0" tIns="0" rIns="0" bIns="0" rtlCol="0" anchor="t"/>
          <a:lstStyle/>
          <a:p>
            <a:pPr marL="0" indent="0" algn="l">
              <a:lnSpc>
                <a:spcPct val="125000"/>
              </a:lnSpc>
              <a:buNone/>
            </a:pPr>
            <a:endParaRPr lang="en-US" sz="1300" dirty="0"/>
          </a:p>
        </p:txBody>
      </p:sp>
      <p:sp>
        <p:nvSpPr>
          <p:cNvPr id="3" name="Text 0"/>
          <p:cNvSpPr/>
          <p:nvPr/>
        </p:nvSpPr>
        <p:spPr>
          <a:xfrm>
            <a:off x="661475" y="468610"/>
            <a:ext cx="10868745" cy="328613"/>
          </a:xfrm>
          <a:prstGeom prst="rect">
            <a:avLst/>
          </a:prstGeom>
          <a:noFill/>
          <a:ln/>
        </p:spPr>
        <p:txBody>
          <a:bodyPr wrap="none" lIns="0" tIns="0" rIns="0" bIns="0" rtlCol="0" anchor="t"/>
          <a:lstStyle/>
          <a:p>
            <a:pPr marL="0" indent="0" algn="l">
              <a:lnSpc>
                <a:spcPct val="83000"/>
              </a:lnSpc>
              <a:buNone/>
            </a:pPr>
            <a:r>
              <a:rPr lang="en-US" sz="2550" dirty="0">
                <a:solidFill>
                  <a:srgbClr val="FFFFFF"/>
                </a:solidFill>
                <a:latin typeface="Space Grotesk Medium" pitchFamily="34" charset="0"/>
                <a:ea typeface="Space Grotesk Medium" pitchFamily="34" charset="-122"/>
                <a:cs typeface="Space Grotesk Medium" pitchFamily="34" charset="-120"/>
              </a:rPr>
              <a:t>Measurable Outcomes</a:t>
            </a:r>
            <a:endParaRPr lang="en-US" sz="2550" dirty="0"/>
          </a:p>
        </p:txBody>
      </p:sp>
      <p:sp>
        <p:nvSpPr>
          <p:cNvPr id="4" name="Text 1"/>
          <p:cNvSpPr/>
          <p:nvPr/>
        </p:nvSpPr>
        <p:spPr>
          <a:xfrm>
            <a:off x="661475" y="898723"/>
            <a:ext cx="10868745" cy="328613"/>
          </a:xfrm>
          <a:prstGeom prst="rect">
            <a:avLst/>
          </a:prstGeom>
          <a:noFill/>
          <a:ln/>
        </p:spPr>
        <p:txBody>
          <a:bodyPr wrap="none" lIns="0" tIns="0" rIns="0" bIns="0" rtlCol="0" anchor="t"/>
          <a:lstStyle/>
          <a:p>
            <a:pPr marL="0" indent="0" algn="l">
              <a:lnSpc>
                <a:spcPct val="83000"/>
              </a:lnSpc>
              <a:buNone/>
            </a:pPr>
            <a:r>
              <a:rPr lang="en-US" sz="2550" dirty="0">
                <a:solidFill>
                  <a:srgbClr val="FFFFFF"/>
                </a:solidFill>
                <a:latin typeface="Space Grotesk Medium" pitchFamily="34" charset="0"/>
                <a:ea typeface="Space Grotesk Medium" pitchFamily="34" charset="-122"/>
                <a:cs typeface="Space Grotesk Medium" pitchFamily="34" charset="-120"/>
              </a:rPr>
              <a:t>That Matter</a:t>
            </a:r>
            <a:endParaRPr lang="en-US" sz="2550" dirty="0"/>
          </a:p>
        </p:txBody>
      </p:sp>
      <p:sp>
        <p:nvSpPr>
          <p:cNvPr id="5" name="Text 2"/>
          <p:cNvSpPr/>
          <p:nvPr/>
        </p:nvSpPr>
        <p:spPr>
          <a:xfrm>
            <a:off x="661475" y="1396504"/>
            <a:ext cx="4637666" cy="57150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FFFFFF"/>
                </a:solidFill>
                <a:latin typeface="Space Grotesk Medium" pitchFamily="34" charset="0"/>
                <a:ea typeface="Space Grotesk Medium" pitchFamily="34" charset="-122"/>
                <a:cs typeface="Space Grotesk Medium" pitchFamily="34" charset="-120"/>
              </a:rPr>
              <a:t>Global EMM Corporation achieved significant, measurable results within the first 90 days of EMM implementation. These improvements directly impacted operational efficiency, security posture, and compliance status.</a:t>
            </a:r>
            <a:endParaRPr lang="en-US" sz="1100" dirty="0"/>
          </a:p>
        </p:txBody>
      </p:sp>
      <p:pic>
        <p:nvPicPr>
          <p:cNvPr id="6" name="Image 0" descr="preencoded.png"/>
          <p:cNvPicPr>
            <a:picLocks noChangeAspect="1"/>
          </p:cNvPicPr>
          <p:nvPr/>
        </p:nvPicPr>
        <p:blipFill>
          <a:blip r:embed="rId3"/>
          <a:stretch>
            <a:fillRect/>
          </a:stretch>
        </p:blipFill>
        <p:spPr>
          <a:xfrm>
            <a:off x="661475" y="2044105"/>
            <a:ext cx="3927972" cy="2336205"/>
          </a:xfrm>
          <a:prstGeom prst="rect">
            <a:avLst/>
          </a:prstGeom>
        </p:spPr>
      </p:pic>
      <p:sp>
        <p:nvSpPr>
          <p:cNvPr id="7" name="Text 3"/>
          <p:cNvSpPr/>
          <p:nvPr/>
        </p:nvSpPr>
        <p:spPr>
          <a:xfrm>
            <a:off x="661475" y="4456410"/>
            <a:ext cx="4637666" cy="260350"/>
          </a:xfrm>
          <a:prstGeom prst="rect">
            <a:avLst/>
          </a:prstGeom>
          <a:noFill/>
          <a:ln/>
        </p:spPr>
        <p:txBody>
          <a:bodyPr wrap="square" lIns="0" tIns="0" rIns="0" bIns="0" rtlCol="0" anchor="t">
            <a:normAutofit/>
          </a:bodyPr>
          <a:lstStyle/>
          <a:p>
            <a:pPr marL="0" indent="0" algn="l">
              <a:lnSpc>
                <a:spcPct val="102000"/>
              </a:lnSpc>
              <a:buNone/>
            </a:pPr>
            <a:r>
              <a:rPr lang="en-US" sz="800" dirty="0">
                <a:solidFill>
                  <a:srgbClr val="CFCFCF"/>
                </a:solidFill>
                <a:latin typeface="Source Sans 3" pitchFamily="34" charset="0"/>
                <a:ea typeface="Source Sans 3" pitchFamily="34" charset="-122"/>
                <a:cs typeface="Source Sans 3" pitchFamily="34" charset="-120"/>
              </a:rPr>
              <a:t>The enrollment curve demonstrates rapid adoption of the EMM platform across all employee segments. By month six, 100% of corporate devices were under management.</a:t>
            </a:r>
            <a:endParaRPr lang="en-US" sz="800" dirty="0"/>
          </a:p>
        </p:txBody>
      </p:sp>
      <p:sp>
        <p:nvSpPr>
          <p:cNvPr id="8" name="Text 4"/>
          <p:cNvSpPr/>
          <p:nvPr/>
        </p:nvSpPr>
        <p:spPr>
          <a:xfrm>
            <a:off x="6384765" y="2092623"/>
            <a:ext cx="1301618" cy="264616"/>
          </a:xfrm>
          <a:prstGeom prst="rect">
            <a:avLst/>
          </a:prstGeom>
          <a:noFill/>
          <a:ln/>
        </p:spPr>
        <p:txBody>
          <a:bodyPr wrap="none" lIns="0" tIns="0" rIns="0" bIns="0" rtlCol="0" anchor="t"/>
          <a:lstStyle/>
          <a:p>
            <a:pPr marL="0" indent="0" algn="ctr">
              <a:lnSpc>
                <a:spcPct val="83000"/>
              </a:lnSpc>
              <a:buNone/>
            </a:pPr>
            <a:r>
              <a:rPr lang="en-US" sz="2050" dirty="0">
                <a:solidFill>
                  <a:srgbClr val="CFCFCF"/>
                </a:solidFill>
                <a:latin typeface="Space Grotesk Medium" pitchFamily="34" charset="0"/>
                <a:ea typeface="Space Grotesk Medium" pitchFamily="34" charset="-122"/>
                <a:cs typeface="Space Grotesk Medium" pitchFamily="34" charset="-120"/>
              </a:rPr>
              <a:t>87%</a:t>
            </a:r>
            <a:endParaRPr lang="en-US" sz="2050" dirty="0"/>
          </a:p>
        </p:txBody>
      </p:sp>
      <p:pic>
        <p:nvPicPr>
          <p:cNvPr id="9" name="Image 1" descr="preencoded.png"/>
          <p:cNvPicPr>
            <a:picLocks noChangeAspect="1"/>
          </p:cNvPicPr>
          <p:nvPr/>
        </p:nvPicPr>
        <p:blipFill>
          <a:blip r:embed="rId4"/>
          <a:stretch>
            <a:fillRect/>
          </a:stretch>
        </p:blipFill>
        <p:spPr>
          <a:xfrm>
            <a:off x="6241993" y="1431330"/>
            <a:ext cx="1587361" cy="1587401"/>
          </a:xfrm>
          <a:prstGeom prst="rect">
            <a:avLst/>
          </a:prstGeom>
        </p:spPr>
      </p:pic>
      <p:sp>
        <p:nvSpPr>
          <p:cNvPr id="10" name="Text 5"/>
          <p:cNvSpPr/>
          <p:nvPr/>
        </p:nvSpPr>
        <p:spPr>
          <a:xfrm>
            <a:off x="5563651" y="3112790"/>
            <a:ext cx="2944044" cy="381000"/>
          </a:xfrm>
          <a:prstGeom prst="rect">
            <a:avLst/>
          </a:prstGeom>
          <a:noFill/>
          <a:ln/>
        </p:spPr>
        <p:txBody>
          <a:bodyPr wrap="square" lIns="0" tIns="0" rIns="0" bIns="0" rtlCol="0" anchor="t">
            <a:normAutofit/>
          </a:bodyPr>
          <a:lstStyle/>
          <a:p>
            <a:pPr marL="0" indent="0" algn="ctr">
              <a:lnSpc>
                <a:spcPct val="83000"/>
              </a:lnSpc>
              <a:buNone/>
            </a:pPr>
            <a:r>
              <a:rPr lang="en-US" sz="1450" dirty="0">
                <a:solidFill>
                  <a:srgbClr val="FFFFFF"/>
                </a:solidFill>
                <a:latin typeface="Space Grotesk Medium" pitchFamily="34" charset="0"/>
                <a:ea typeface="Space Grotesk Medium" pitchFamily="34" charset="-122"/>
                <a:cs typeface="Space Grotesk Medium" pitchFamily="34" charset="-120"/>
              </a:rPr>
              <a:t>Unauthorized Devices Eliminated</a:t>
            </a:r>
            <a:endParaRPr lang="en-US" sz="1450" dirty="0"/>
          </a:p>
        </p:txBody>
      </p:sp>
      <p:sp>
        <p:nvSpPr>
          <p:cNvPr id="11" name="Text 6"/>
          <p:cNvSpPr/>
          <p:nvPr/>
        </p:nvSpPr>
        <p:spPr>
          <a:xfrm>
            <a:off x="5563651" y="3561457"/>
            <a:ext cx="2944044" cy="325239"/>
          </a:xfrm>
          <a:prstGeom prst="rect">
            <a:avLst/>
          </a:prstGeom>
          <a:noFill/>
          <a:ln/>
        </p:spPr>
        <p:txBody>
          <a:bodyPr wrap="square" lIns="0" tIns="0" rIns="0" bIns="0" rtlCol="0" anchor="t">
            <a:normAutofit/>
          </a:bodyPr>
          <a:lstStyle/>
          <a:p>
            <a:pPr marL="0" indent="0" algn="ctr">
              <a:lnSpc>
                <a:spcPct val="102000"/>
              </a:lnSpc>
              <a:buNone/>
            </a:pPr>
            <a:r>
              <a:rPr lang="en-US" sz="1000" dirty="0">
                <a:solidFill>
                  <a:srgbClr val="CFCFCF"/>
                </a:solidFill>
                <a:latin typeface="Source Sans 3" pitchFamily="34" charset="0"/>
                <a:ea typeface="Source Sans 3" pitchFamily="34" charset="-122"/>
                <a:cs typeface="Source Sans 3" pitchFamily="34" charset="-120"/>
              </a:rPr>
              <a:t>Reduced unmanaged devices from 87% to 0% through comprehensive enrollment</a:t>
            </a:r>
            <a:endParaRPr lang="en-US" sz="1000" dirty="0"/>
          </a:p>
        </p:txBody>
      </p:sp>
      <p:sp>
        <p:nvSpPr>
          <p:cNvPr id="12" name="Text 7"/>
          <p:cNvSpPr/>
          <p:nvPr/>
        </p:nvSpPr>
        <p:spPr>
          <a:xfrm>
            <a:off x="9413441" y="2092623"/>
            <a:ext cx="1301618" cy="264616"/>
          </a:xfrm>
          <a:prstGeom prst="rect">
            <a:avLst/>
          </a:prstGeom>
          <a:noFill/>
          <a:ln/>
        </p:spPr>
        <p:txBody>
          <a:bodyPr wrap="none" lIns="0" tIns="0" rIns="0" bIns="0" rtlCol="0" anchor="t"/>
          <a:lstStyle/>
          <a:p>
            <a:pPr marL="0" indent="0" algn="ctr">
              <a:lnSpc>
                <a:spcPct val="83000"/>
              </a:lnSpc>
              <a:buNone/>
            </a:pPr>
            <a:r>
              <a:rPr lang="en-US" sz="2050" dirty="0">
                <a:solidFill>
                  <a:srgbClr val="CFCFCF"/>
                </a:solidFill>
                <a:latin typeface="Space Grotesk Medium" pitchFamily="34" charset="0"/>
                <a:ea typeface="Space Grotesk Medium" pitchFamily="34" charset="-122"/>
                <a:cs typeface="Space Grotesk Medium" pitchFamily="34" charset="-120"/>
              </a:rPr>
              <a:t>340hrs</a:t>
            </a:r>
            <a:endParaRPr lang="en-US" sz="2050" dirty="0"/>
          </a:p>
        </p:txBody>
      </p:sp>
      <p:pic>
        <p:nvPicPr>
          <p:cNvPr id="13" name="Image 2" descr="preencoded.png"/>
          <p:cNvPicPr>
            <a:picLocks noChangeAspect="1"/>
          </p:cNvPicPr>
          <p:nvPr/>
        </p:nvPicPr>
        <p:blipFill>
          <a:blip r:embed="rId5"/>
          <a:stretch>
            <a:fillRect/>
          </a:stretch>
        </p:blipFill>
        <p:spPr>
          <a:xfrm>
            <a:off x="9270669" y="1431330"/>
            <a:ext cx="1587361" cy="1587401"/>
          </a:xfrm>
          <a:prstGeom prst="rect">
            <a:avLst/>
          </a:prstGeom>
        </p:spPr>
      </p:pic>
      <p:sp>
        <p:nvSpPr>
          <p:cNvPr id="14" name="Text 8"/>
          <p:cNvSpPr/>
          <p:nvPr/>
        </p:nvSpPr>
        <p:spPr>
          <a:xfrm>
            <a:off x="8592327" y="3112790"/>
            <a:ext cx="2944144" cy="190500"/>
          </a:xfrm>
          <a:prstGeom prst="rect">
            <a:avLst/>
          </a:prstGeom>
          <a:noFill/>
          <a:ln/>
        </p:spPr>
        <p:txBody>
          <a:bodyPr wrap="none" lIns="0" tIns="0" rIns="0" bIns="0" rtlCol="0" anchor="t"/>
          <a:lstStyle/>
          <a:p>
            <a:pPr marL="0" indent="0" algn="ctr">
              <a:lnSpc>
                <a:spcPct val="83000"/>
              </a:lnSpc>
              <a:buNone/>
            </a:pPr>
            <a:r>
              <a:rPr lang="en-US" sz="1450" dirty="0">
                <a:solidFill>
                  <a:srgbClr val="FFFFFF"/>
                </a:solidFill>
                <a:latin typeface="Space Grotesk Medium" pitchFamily="34" charset="0"/>
                <a:ea typeface="Space Grotesk Medium" pitchFamily="34" charset="-122"/>
                <a:cs typeface="Space Grotesk Medium" pitchFamily="34" charset="-120"/>
              </a:rPr>
              <a:t>Monthly Hours Saved</a:t>
            </a:r>
            <a:endParaRPr lang="en-US" sz="1450" dirty="0"/>
          </a:p>
        </p:txBody>
      </p:sp>
      <p:sp>
        <p:nvSpPr>
          <p:cNvPr id="15" name="Text 9"/>
          <p:cNvSpPr/>
          <p:nvPr/>
        </p:nvSpPr>
        <p:spPr>
          <a:xfrm>
            <a:off x="8592327" y="3370957"/>
            <a:ext cx="2944144" cy="325239"/>
          </a:xfrm>
          <a:prstGeom prst="rect">
            <a:avLst/>
          </a:prstGeom>
          <a:noFill/>
          <a:ln/>
        </p:spPr>
        <p:txBody>
          <a:bodyPr wrap="square" lIns="0" tIns="0" rIns="0" bIns="0" rtlCol="0" anchor="t">
            <a:normAutofit/>
          </a:bodyPr>
          <a:lstStyle/>
          <a:p>
            <a:pPr marL="0" indent="0" algn="ctr">
              <a:lnSpc>
                <a:spcPct val="102000"/>
              </a:lnSpc>
              <a:buNone/>
            </a:pPr>
            <a:r>
              <a:rPr lang="en-US" sz="1000" dirty="0">
                <a:solidFill>
                  <a:srgbClr val="CFCFCF"/>
                </a:solidFill>
                <a:latin typeface="Source Sans 3" pitchFamily="34" charset="0"/>
                <a:ea typeface="Source Sans 3" pitchFamily="34" charset="-122"/>
                <a:cs typeface="Source Sans 3" pitchFamily="34" charset="-120"/>
              </a:rPr>
              <a:t>Automated enrollment and policy management eliminated manual IT overhead</a:t>
            </a:r>
            <a:endParaRPr lang="en-US" sz="1000" dirty="0"/>
          </a:p>
        </p:txBody>
      </p:sp>
      <p:sp>
        <p:nvSpPr>
          <p:cNvPr id="16" name="Text 10"/>
          <p:cNvSpPr/>
          <p:nvPr/>
        </p:nvSpPr>
        <p:spPr>
          <a:xfrm>
            <a:off x="6384765" y="4709716"/>
            <a:ext cx="1301618" cy="264616"/>
          </a:xfrm>
          <a:prstGeom prst="rect">
            <a:avLst/>
          </a:prstGeom>
          <a:noFill/>
          <a:ln/>
        </p:spPr>
        <p:txBody>
          <a:bodyPr wrap="none" lIns="0" tIns="0" rIns="0" bIns="0" rtlCol="0" anchor="t"/>
          <a:lstStyle/>
          <a:p>
            <a:pPr marL="0" indent="0" algn="ctr">
              <a:lnSpc>
                <a:spcPct val="83000"/>
              </a:lnSpc>
              <a:buNone/>
            </a:pPr>
            <a:r>
              <a:rPr lang="en-US" sz="2050" dirty="0">
                <a:solidFill>
                  <a:srgbClr val="CFCFCF"/>
                </a:solidFill>
                <a:latin typeface="Space Grotesk Medium" pitchFamily="34" charset="0"/>
                <a:ea typeface="Space Grotesk Medium" pitchFamily="34" charset="-122"/>
                <a:cs typeface="Space Grotesk Medium" pitchFamily="34" charset="-120"/>
              </a:rPr>
              <a:t>99.2%</a:t>
            </a:r>
            <a:endParaRPr lang="en-US" sz="2050" dirty="0"/>
          </a:p>
        </p:txBody>
      </p:sp>
      <p:pic>
        <p:nvPicPr>
          <p:cNvPr id="17" name="Image 3" descr="preencoded.png"/>
          <p:cNvPicPr>
            <a:picLocks noChangeAspect="1"/>
          </p:cNvPicPr>
          <p:nvPr/>
        </p:nvPicPr>
        <p:blipFill>
          <a:blip r:embed="rId6"/>
          <a:stretch>
            <a:fillRect/>
          </a:stretch>
        </p:blipFill>
        <p:spPr>
          <a:xfrm>
            <a:off x="6241993" y="4048423"/>
            <a:ext cx="1587361" cy="1587401"/>
          </a:xfrm>
          <a:prstGeom prst="rect">
            <a:avLst/>
          </a:prstGeom>
        </p:spPr>
      </p:pic>
      <p:sp>
        <p:nvSpPr>
          <p:cNvPr id="18" name="Text 11"/>
          <p:cNvSpPr/>
          <p:nvPr/>
        </p:nvSpPr>
        <p:spPr>
          <a:xfrm>
            <a:off x="5563651" y="5729883"/>
            <a:ext cx="2944044" cy="190500"/>
          </a:xfrm>
          <a:prstGeom prst="rect">
            <a:avLst/>
          </a:prstGeom>
          <a:noFill/>
          <a:ln/>
        </p:spPr>
        <p:txBody>
          <a:bodyPr wrap="none" lIns="0" tIns="0" rIns="0" bIns="0" rtlCol="0" anchor="t"/>
          <a:lstStyle/>
          <a:p>
            <a:pPr marL="0" indent="0" algn="ctr">
              <a:lnSpc>
                <a:spcPct val="83000"/>
              </a:lnSpc>
              <a:buNone/>
            </a:pPr>
            <a:r>
              <a:rPr lang="en-US" sz="1450" dirty="0">
                <a:solidFill>
                  <a:srgbClr val="FFFFFF"/>
                </a:solidFill>
                <a:latin typeface="Space Grotesk Medium" pitchFamily="34" charset="0"/>
                <a:ea typeface="Space Grotesk Medium" pitchFamily="34" charset="-122"/>
                <a:cs typeface="Space Grotesk Medium" pitchFamily="34" charset="-120"/>
              </a:rPr>
              <a:t>Compliance Achievement</a:t>
            </a:r>
            <a:endParaRPr lang="en-US" sz="1450" dirty="0"/>
          </a:p>
        </p:txBody>
      </p:sp>
      <p:sp>
        <p:nvSpPr>
          <p:cNvPr id="19" name="Text 12"/>
          <p:cNvSpPr/>
          <p:nvPr/>
        </p:nvSpPr>
        <p:spPr>
          <a:xfrm>
            <a:off x="5563651" y="5988050"/>
            <a:ext cx="2944044" cy="325239"/>
          </a:xfrm>
          <a:prstGeom prst="rect">
            <a:avLst/>
          </a:prstGeom>
          <a:noFill/>
          <a:ln/>
        </p:spPr>
        <p:txBody>
          <a:bodyPr wrap="square" lIns="0" tIns="0" rIns="0" bIns="0" rtlCol="0" anchor="t">
            <a:normAutofit/>
          </a:bodyPr>
          <a:lstStyle/>
          <a:p>
            <a:pPr marL="0" indent="0" algn="ctr">
              <a:lnSpc>
                <a:spcPct val="102000"/>
              </a:lnSpc>
              <a:buNone/>
            </a:pPr>
            <a:r>
              <a:rPr lang="en-US" sz="1000" dirty="0">
                <a:solidFill>
                  <a:srgbClr val="CFCFCF"/>
                </a:solidFill>
                <a:latin typeface="Source Sans 3" pitchFamily="34" charset="0"/>
                <a:ea typeface="Source Sans 3" pitchFamily="34" charset="-122"/>
                <a:cs typeface="Source Sans 3" pitchFamily="34" charset="-120"/>
              </a:rPr>
              <a:t>Achieved regulatory compliance across all device categories and locations</a:t>
            </a:r>
            <a:endParaRPr lang="en-US" sz="1000" dirty="0"/>
          </a:p>
        </p:txBody>
      </p:sp>
      <p:sp>
        <p:nvSpPr>
          <p:cNvPr id="20" name="Text 13"/>
          <p:cNvSpPr/>
          <p:nvPr/>
        </p:nvSpPr>
        <p:spPr>
          <a:xfrm>
            <a:off x="9413441" y="4709716"/>
            <a:ext cx="1301618" cy="264616"/>
          </a:xfrm>
          <a:prstGeom prst="rect">
            <a:avLst/>
          </a:prstGeom>
          <a:noFill/>
          <a:ln/>
        </p:spPr>
        <p:txBody>
          <a:bodyPr wrap="none" lIns="0" tIns="0" rIns="0" bIns="0" rtlCol="0" anchor="t"/>
          <a:lstStyle/>
          <a:p>
            <a:pPr marL="0" indent="0" algn="ctr">
              <a:lnSpc>
                <a:spcPct val="83000"/>
              </a:lnSpc>
              <a:buNone/>
            </a:pPr>
            <a:r>
              <a:rPr lang="en-US" sz="2050" dirty="0">
                <a:solidFill>
                  <a:srgbClr val="CFCFCF"/>
                </a:solidFill>
                <a:latin typeface="Space Grotesk Medium" pitchFamily="34" charset="0"/>
                <a:ea typeface="Space Grotesk Medium" pitchFamily="34" charset="-122"/>
                <a:cs typeface="Space Grotesk Medium" pitchFamily="34" charset="-120"/>
              </a:rPr>
              <a:t>$1.8M</a:t>
            </a:r>
            <a:endParaRPr lang="en-US" sz="2050" dirty="0"/>
          </a:p>
        </p:txBody>
      </p:sp>
      <p:pic>
        <p:nvPicPr>
          <p:cNvPr id="21" name="Image 4" descr="preencoded.png"/>
          <p:cNvPicPr>
            <a:picLocks noChangeAspect="1"/>
          </p:cNvPicPr>
          <p:nvPr/>
        </p:nvPicPr>
        <p:blipFill>
          <a:blip r:embed="rId7"/>
          <a:stretch>
            <a:fillRect/>
          </a:stretch>
        </p:blipFill>
        <p:spPr>
          <a:xfrm>
            <a:off x="9270669" y="4048423"/>
            <a:ext cx="1587361" cy="1587401"/>
          </a:xfrm>
          <a:prstGeom prst="rect">
            <a:avLst/>
          </a:prstGeom>
        </p:spPr>
      </p:pic>
      <p:sp>
        <p:nvSpPr>
          <p:cNvPr id="22" name="Text 14"/>
          <p:cNvSpPr/>
          <p:nvPr/>
        </p:nvSpPr>
        <p:spPr>
          <a:xfrm>
            <a:off x="8592327" y="5729883"/>
            <a:ext cx="2944144" cy="190500"/>
          </a:xfrm>
          <a:prstGeom prst="rect">
            <a:avLst/>
          </a:prstGeom>
          <a:noFill/>
          <a:ln/>
        </p:spPr>
        <p:txBody>
          <a:bodyPr wrap="none" lIns="0" tIns="0" rIns="0" bIns="0" rtlCol="0" anchor="t"/>
          <a:lstStyle/>
          <a:p>
            <a:pPr marL="0" indent="0" algn="ctr">
              <a:lnSpc>
                <a:spcPct val="83000"/>
              </a:lnSpc>
              <a:buNone/>
            </a:pPr>
            <a:r>
              <a:rPr lang="en-US" sz="1450" dirty="0">
                <a:solidFill>
                  <a:srgbClr val="FFFFFF"/>
                </a:solidFill>
                <a:latin typeface="Space Grotesk Medium" pitchFamily="34" charset="0"/>
                <a:ea typeface="Space Grotesk Medium" pitchFamily="34" charset="-122"/>
                <a:cs typeface="Space Grotesk Medium" pitchFamily="34" charset="-120"/>
              </a:rPr>
              <a:t>Annual Savings</a:t>
            </a:r>
            <a:endParaRPr lang="en-US" sz="1450" dirty="0"/>
          </a:p>
        </p:txBody>
      </p:sp>
      <p:sp>
        <p:nvSpPr>
          <p:cNvPr id="23" name="Text 15"/>
          <p:cNvSpPr/>
          <p:nvPr/>
        </p:nvSpPr>
        <p:spPr>
          <a:xfrm>
            <a:off x="8592327" y="5988050"/>
            <a:ext cx="2944144" cy="325239"/>
          </a:xfrm>
          <a:prstGeom prst="rect">
            <a:avLst/>
          </a:prstGeom>
          <a:noFill/>
          <a:ln/>
        </p:spPr>
        <p:txBody>
          <a:bodyPr wrap="square" lIns="0" tIns="0" rIns="0" bIns="0" rtlCol="0" anchor="t">
            <a:normAutofit/>
          </a:bodyPr>
          <a:lstStyle/>
          <a:p>
            <a:pPr marL="0" indent="0" algn="ctr">
              <a:lnSpc>
                <a:spcPct val="102000"/>
              </a:lnSpc>
              <a:buNone/>
            </a:pPr>
            <a:r>
              <a:rPr lang="en-US" sz="1000" dirty="0">
                <a:solidFill>
                  <a:srgbClr val="CFCFCF"/>
                </a:solidFill>
                <a:latin typeface="Source Sans 3" pitchFamily="34" charset="0"/>
                <a:ea typeface="Source Sans 3" pitchFamily="34" charset="-122"/>
                <a:cs typeface="Source Sans 3" pitchFamily="34" charset="-120"/>
              </a:rPr>
              <a:t>Reduced security incidents, support costs, and operational inefficiencies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828899"/>
            <a:ext cx="11478330" cy="248047"/>
          </a:xfrm>
          <a:prstGeom prst="rect">
            <a:avLst/>
          </a:prstGeom>
          <a:noFill/>
          <a:ln/>
        </p:spPr>
        <p:txBody>
          <a:bodyPr wrap="none" lIns="0" tIns="0" rIns="0" bIns="0" rtlCol="0" anchor="t"/>
          <a:lstStyle/>
          <a:p>
            <a:pPr marL="0" indent="0" algn="l">
              <a:lnSpc>
                <a:spcPct val="125000"/>
              </a:lnSpc>
              <a:buNone/>
            </a:pPr>
            <a:endParaRPr lang="en-US" sz="1300" dirty="0"/>
          </a:p>
        </p:txBody>
      </p:sp>
      <p:pic>
        <p:nvPicPr>
          <p:cNvPr id="3" name="Image 0" descr="preencoded.png"/>
          <p:cNvPicPr>
            <a:picLocks noChangeAspect="1"/>
          </p:cNvPicPr>
          <p:nvPr/>
        </p:nvPicPr>
        <p:blipFill>
          <a:blip r:embed="rId3"/>
          <a:stretch>
            <a:fillRect/>
          </a:stretch>
        </p:blipFill>
        <p:spPr>
          <a:xfrm>
            <a:off x="9143771" y="0"/>
            <a:ext cx="3047924" cy="6858000"/>
          </a:xfrm>
          <a:prstGeom prst="rect">
            <a:avLst/>
          </a:prstGeom>
        </p:spPr>
      </p:pic>
      <p:sp>
        <p:nvSpPr>
          <p:cNvPr id="4" name="Text 0"/>
          <p:cNvSpPr/>
          <p:nvPr/>
        </p:nvSpPr>
        <p:spPr>
          <a:xfrm>
            <a:off x="661475" y="493613"/>
            <a:ext cx="7820822" cy="334963"/>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Space Grotesk Medium" pitchFamily="34" charset="0"/>
                <a:ea typeface="Space Grotesk Medium" pitchFamily="34" charset="-122"/>
                <a:cs typeface="Space Grotesk Medium" pitchFamily="34" charset="-120"/>
              </a:rPr>
              <a:t>Global Enterprise Implementation Timeline</a:t>
            </a:r>
            <a:endParaRPr lang="en-US" sz="2600" dirty="0"/>
          </a:p>
        </p:txBody>
      </p:sp>
      <p:sp>
        <p:nvSpPr>
          <p:cNvPr id="5" name="Text 1"/>
          <p:cNvSpPr/>
          <p:nvPr/>
        </p:nvSpPr>
        <p:spPr>
          <a:xfrm>
            <a:off x="661475" y="1029494"/>
            <a:ext cx="7820822" cy="786805"/>
          </a:xfrm>
          <a:prstGeom prst="rect">
            <a:avLst/>
          </a:prstGeom>
          <a:noFill/>
          <a:ln/>
        </p:spPr>
        <p:txBody>
          <a:bodyPr wrap="square" lIns="0" tIns="0" rIns="0" bIns="0" rtlCol="0" anchor="t">
            <a:normAutofit/>
          </a:bodyPr>
          <a:lstStyle/>
          <a:p>
            <a:pPr marL="0" indent="0" algn="l">
              <a:lnSpc>
                <a:spcPct val="119000"/>
              </a:lnSpc>
              <a:spcAft>
                <a:spcPts val="1150"/>
              </a:spcAft>
              <a:buNone/>
            </a:pPr>
            <a:r>
              <a:rPr lang="en-US" sz="1150" dirty="0">
                <a:solidFill>
                  <a:srgbClr val="CFCFCF"/>
                </a:solidFill>
                <a:latin typeface="Source Sans 3" pitchFamily="34" charset="0"/>
                <a:ea typeface="Source Sans 3" pitchFamily="34" charset="-122"/>
                <a:cs typeface="Source Sans 3" pitchFamily="34" charset="-120"/>
              </a:rPr>
              <a:t>Global EMM Corporation completed their EMM implementation in 16 weeks with minimal disruption to operations. The phased approach ensured smooth adoption across all 10,000+ employees and 15,000+ devices.</a:t>
            </a:r>
            <a:endParaRPr lang="en-US" sz="1150" dirty="0"/>
          </a:p>
        </p:txBody>
      </p:sp>
      <p:sp>
        <p:nvSpPr>
          <p:cNvPr id="6" name="Shape 2"/>
          <p:cNvSpPr/>
          <p:nvPr/>
        </p:nvSpPr>
        <p:spPr>
          <a:xfrm>
            <a:off x="4562361" y="1967012"/>
            <a:ext cx="19050" cy="4397276"/>
          </a:xfrm>
          <a:prstGeom prst="roundRect">
            <a:avLst>
              <a:gd name="adj" fmla="val 49999"/>
            </a:avLst>
          </a:prstGeom>
          <a:solidFill>
            <a:srgbClr val="288793"/>
          </a:solidFill>
          <a:ln/>
        </p:spPr>
      </p:sp>
      <p:sp>
        <p:nvSpPr>
          <p:cNvPr id="7" name="Shape 3"/>
          <p:cNvSpPr/>
          <p:nvPr/>
        </p:nvSpPr>
        <p:spPr>
          <a:xfrm>
            <a:off x="3977034" y="2124869"/>
            <a:ext cx="446473" cy="19050"/>
          </a:xfrm>
          <a:prstGeom prst="roundRect">
            <a:avLst>
              <a:gd name="adj" fmla="val 49999"/>
            </a:avLst>
          </a:prstGeom>
          <a:solidFill>
            <a:srgbClr val="288793"/>
          </a:solidFill>
          <a:ln/>
        </p:spPr>
      </p:sp>
      <p:sp>
        <p:nvSpPr>
          <p:cNvPr id="8" name="Shape 4"/>
          <p:cNvSpPr/>
          <p:nvPr/>
        </p:nvSpPr>
        <p:spPr>
          <a:xfrm>
            <a:off x="4404458" y="1967012"/>
            <a:ext cx="334855" cy="334863"/>
          </a:xfrm>
          <a:prstGeom prst="roundRect">
            <a:avLst>
              <a:gd name="adj" fmla="val 40007"/>
            </a:avLst>
          </a:prstGeom>
          <a:solidFill>
            <a:srgbClr val="42A1AD"/>
          </a:solidFill>
          <a:ln w="12700">
            <a:solidFill>
              <a:srgbClr val="288793"/>
            </a:solidFill>
            <a:prstDash val="solid"/>
          </a:ln>
        </p:spPr>
      </p:sp>
      <p:sp>
        <p:nvSpPr>
          <p:cNvPr id="9" name="Text 5"/>
          <p:cNvSpPr/>
          <p:nvPr/>
        </p:nvSpPr>
        <p:spPr>
          <a:xfrm>
            <a:off x="4471380" y="2033935"/>
            <a:ext cx="200913" cy="200918"/>
          </a:xfrm>
          <a:prstGeom prst="rect">
            <a:avLst/>
          </a:prstGeom>
          <a:noFill/>
          <a:ln/>
        </p:spPr>
        <p:txBody>
          <a:bodyPr wrap="none" lIns="0" tIns="0" rIns="0" bIns="0" rtlCol="0" anchor="ctr"/>
          <a:lstStyle/>
          <a:p>
            <a:pPr marL="0" indent="0" algn="ctr">
              <a:lnSpc>
                <a:spcPct val="100000"/>
              </a:lnSpc>
              <a:buNone/>
            </a:pPr>
            <a:r>
              <a:rPr lang="en-US" sz="1550" dirty="0">
                <a:solidFill>
                  <a:srgbClr val="000000"/>
                </a:solidFill>
                <a:latin typeface="Space Grotesk Medium" pitchFamily="34" charset="0"/>
                <a:ea typeface="Space Grotesk Medium" pitchFamily="34" charset="-122"/>
                <a:cs typeface="Space Grotesk Medium" pitchFamily="34" charset="-120"/>
              </a:rPr>
              <a:t>1</a:t>
            </a:r>
            <a:endParaRPr lang="en-US" sz="1550" dirty="0"/>
          </a:p>
        </p:txBody>
      </p:sp>
      <p:sp>
        <p:nvSpPr>
          <p:cNvPr id="10" name="Text 6"/>
          <p:cNvSpPr/>
          <p:nvPr/>
        </p:nvSpPr>
        <p:spPr>
          <a:xfrm>
            <a:off x="661475" y="2022773"/>
            <a:ext cx="3166190" cy="401836"/>
          </a:xfrm>
          <a:prstGeom prst="rect">
            <a:avLst/>
          </a:prstGeom>
          <a:noFill/>
          <a:ln/>
        </p:spPr>
        <p:txBody>
          <a:bodyPr wrap="square" lIns="0" tIns="0" rIns="0" bIns="0" rtlCol="0" anchor="t">
            <a:normAutofit/>
          </a:bodyPr>
          <a:lstStyle/>
          <a:p>
            <a:pPr marL="0" indent="0" algn="r">
              <a:lnSpc>
                <a:spcPct val="83000"/>
              </a:lnSpc>
              <a:buNone/>
            </a:pPr>
            <a:r>
              <a:rPr lang="en-US" sz="1550" b="1" dirty="0">
                <a:solidFill>
                  <a:srgbClr val="FFFFFF"/>
                </a:solidFill>
                <a:latin typeface="Space Grotesk Bold" pitchFamily="34" charset="0"/>
                <a:ea typeface="Space Grotesk Bold" pitchFamily="34" charset="-122"/>
                <a:cs typeface="Space Grotesk Bold" pitchFamily="34" charset="-120"/>
              </a:rPr>
              <a:t>Phase 1: Discovery &amp; Planning (Weeks 1-3)</a:t>
            </a:r>
            <a:endParaRPr lang="en-US" sz="1550" dirty="0"/>
          </a:p>
        </p:txBody>
      </p:sp>
      <p:sp>
        <p:nvSpPr>
          <p:cNvPr id="11" name="Text 7"/>
          <p:cNvSpPr/>
          <p:nvPr/>
        </p:nvSpPr>
        <p:spPr>
          <a:xfrm>
            <a:off x="661475" y="2504976"/>
            <a:ext cx="3166190" cy="1060152"/>
          </a:xfrm>
          <a:prstGeom prst="rect">
            <a:avLst/>
          </a:prstGeom>
          <a:noFill/>
          <a:ln/>
        </p:spPr>
        <p:txBody>
          <a:bodyPr wrap="square" lIns="0" tIns="0" rIns="0" bIns="0" rtlCol="0" anchor="t">
            <a:normAutofit/>
          </a:bodyPr>
          <a:lstStyle/>
          <a:p>
            <a:pPr marL="0" indent="0" algn="r">
              <a:lnSpc>
                <a:spcPct val="119000"/>
              </a:lnSpc>
              <a:buNone/>
            </a:pPr>
            <a:r>
              <a:rPr lang="en-US" sz="1150" dirty="0">
                <a:solidFill>
                  <a:srgbClr val="CFCFCF"/>
                </a:solidFill>
                <a:latin typeface="Source Sans 3" pitchFamily="34" charset="0"/>
                <a:ea typeface="Source Sans 3" pitchFamily="34" charset="-122"/>
                <a:cs typeface="Source Sans 3" pitchFamily="34" charset="-120"/>
              </a:rPr>
              <a:t>Comprehensive audit of 15,000 devices across all locations. Identified 87% unmanaged devices and compliance gaps. Defined enrollment strategy for corporate, BYOD, and field devices. Established success metrics and stakeholder alignment.</a:t>
            </a:r>
            <a:endParaRPr lang="en-US" sz="1150" dirty="0"/>
          </a:p>
        </p:txBody>
      </p:sp>
      <p:sp>
        <p:nvSpPr>
          <p:cNvPr id="12" name="Shape 8"/>
          <p:cNvSpPr/>
          <p:nvPr/>
        </p:nvSpPr>
        <p:spPr>
          <a:xfrm>
            <a:off x="4720264" y="2988171"/>
            <a:ext cx="446473" cy="19050"/>
          </a:xfrm>
          <a:prstGeom prst="roundRect">
            <a:avLst>
              <a:gd name="adj" fmla="val 49999"/>
            </a:avLst>
          </a:prstGeom>
          <a:solidFill>
            <a:srgbClr val="288793"/>
          </a:solidFill>
          <a:ln/>
        </p:spPr>
      </p:sp>
      <p:sp>
        <p:nvSpPr>
          <p:cNvPr id="13" name="Shape 9"/>
          <p:cNvSpPr/>
          <p:nvPr/>
        </p:nvSpPr>
        <p:spPr>
          <a:xfrm>
            <a:off x="4404458" y="2830314"/>
            <a:ext cx="334855" cy="334863"/>
          </a:xfrm>
          <a:prstGeom prst="roundRect">
            <a:avLst>
              <a:gd name="adj" fmla="val 40007"/>
            </a:avLst>
          </a:prstGeom>
          <a:solidFill>
            <a:srgbClr val="42A1AD"/>
          </a:solidFill>
          <a:ln w="12700">
            <a:solidFill>
              <a:srgbClr val="288793"/>
            </a:solidFill>
            <a:prstDash val="solid"/>
          </a:ln>
        </p:spPr>
      </p:sp>
      <p:sp>
        <p:nvSpPr>
          <p:cNvPr id="14" name="Text 10"/>
          <p:cNvSpPr/>
          <p:nvPr/>
        </p:nvSpPr>
        <p:spPr>
          <a:xfrm>
            <a:off x="4471380" y="2897237"/>
            <a:ext cx="200913" cy="200918"/>
          </a:xfrm>
          <a:prstGeom prst="rect">
            <a:avLst/>
          </a:prstGeom>
          <a:noFill/>
          <a:ln/>
        </p:spPr>
        <p:txBody>
          <a:bodyPr wrap="none" lIns="0" tIns="0" rIns="0" bIns="0" rtlCol="0" anchor="ctr"/>
          <a:lstStyle/>
          <a:p>
            <a:pPr marL="0" indent="0" algn="ctr">
              <a:lnSpc>
                <a:spcPct val="100000"/>
              </a:lnSpc>
              <a:buNone/>
            </a:pPr>
            <a:r>
              <a:rPr lang="en-US" sz="1550" dirty="0">
                <a:solidFill>
                  <a:srgbClr val="000000"/>
                </a:solidFill>
                <a:latin typeface="Space Grotesk Medium" pitchFamily="34" charset="0"/>
                <a:ea typeface="Space Grotesk Medium" pitchFamily="34" charset="-122"/>
                <a:cs typeface="Space Grotesk Medium" pitchFamily="34" charset="-120"/>
              </a:rPr>
              <a:t>2</a:t>
            </a:r>
            <a:endParaRPr lang="en-US" sz="1550" dirty="0"/>
          </a:p>
        </p:txBody>
      </p:sp>
      <p:sp>
        <p:nvSpPr>
          <p:cNvPr id="15" name="Text 11"/>
          <p:cNvSpPr/>
          <p:nvPr/>
        </p:nvSpPr>
        <p:spPr>
          <a:xfrm>
            <a:off x="5316107" y="2886075"/>
            <a:ext cx="3166190" cy="401836"/>
          </a:xfrm>
          <a:prstGeom prst="rect">
            <a:avLst/>
          </a:prstGeom>
          <a:noFill/>
          <a:ln/>
        </p:spPr>
        <p:txBody>
          <a:bodyPr wrap="square" lIns="0" tIns="0" rIns="0" bIns="0" rtlCol="0" anchor="t">
            <a:normAutofit/>
          </a:bodyPr>
          <a:lstStyle/>
          <a:p>
            <a:pPr marL="0" indent="0" algn="l">
              <a:lnSpc>
                <a:spcPct val="83000"/>
              </a:lnSpc>
              <a:buNone/>
            </a:pPr>
            <a:r>
              <a:rPr lang="en-US" sz="1550" b="1" dirty="0">
                <a:solidFill>
                  <a:srgbClr val="FFFFFF"/>
                </a:solidFill>
                <a:latin typeface="Space Grotesk Bold" pitchFamily="34" charset="0"/>
                <a:ea typeface="Space Grotesk Bold" pitchFamily="34" charset="-122"/>
                <a:cs typeface="Space Grotesk Bold" pitchFamily="34" charset="-120"/>
              </a:rPr>
              <a:t>Phase 2: Pilot &amp; Deployment (Weeks 4-8)</a:t>
            </a:r>
            <a:endParaRPr lang="en-US" sz="1550" dirty="0"/>
          </a:p>
        </p:txBody>
      </p:sp>
      <p:sp>
        <p:nvSpPr>
          <p:cNvPr id="16" name="Text 12"/>
          <p:cNvSpPr/>
          <p:nvPr/>
        </p:nvSpPr>
        <p:spPr>
          <a:xfrm>
            <a:off x="5316107" y="3368278"/>
            <a:ext cx="3166190" cy="1060152"/>
          </a:xfrm>
          <a:prstGeom prst="rect">
            <a:avLst/>
          </a:prstGeom>
          <a:noFill/>
          <a:ln/>
        </p:spPr>
        <p:txBody>
          <a:bodyPr wrap="square" lIns="0" tIns="0" rIns="0" bIns="0" rtlCol="0" anchor="t">
            <a:normAutofit/>
          </a:bodyPr>
          <a:lstStyle/>
          <a:p>
            <a:pPr marL="0" indent="0" algn="l">
              <a:lnSpc>
                <a:spcPct val="119000"/>
              </a:lnSpc>
              <a:buNone/>
            </a:pPr>
            <a:r>
              <a:rPr lang="en-US" sz="1150" dirty="0">
                <a:solidFill>
                  <a:srgbClr val="CFCFCF"/>
                </a:solidFill>
                <a:latin typeface="Source Sans 3" pitchFamily="34" charset="0"/>
                <a:ea typeface="Source Sans 3" pitchFamily="34" charset="-122"/>
                <a:cs typeface="Source Sans 3" pitchFamily="34" charset="-120"/>
              </a:rPr>
              <a:t>Deployed EMM platform and tested with 2,000 corporate office devices. Refined enrollment workflows and policies based on pilot feedback. Integrated with existing Active Directory and MDM systems. Trained IT support teams.</a:t>
            </a:r>
            <a:endParaRPr lang="en-US" sz="1150" dirty="0"/>
          </a:p>
        </p:txBody>
      </p:sp>
      <p:sp>
        <p:nvSpPr>
          <p:cNvPr id="17" name="Shape 13"/>
          <p:cNvSpPr/>
          <p:nvPr/>
        </p:nvSpPr>
        <p:spPr>
          <a:xfrm>
            <a:off x="3977034" y="3990876"/>
            <a:ext cx="446473" cy="19050"/>
          </a:xfrm>
          <a:prstGeom prst="roundRect">
            <a:avLst>
              <a:gd name="adj" fmla="val 49999"/>
            </a:avLst>
          </a:prstGeom>
          <a:solidFill>
            <a:srgbClr val="288793"/>
          </a:solidFill>
          <a:ln/>
        </p:spPr>
      </p:sp>
      <p:sp>
        <p:nvSpPr>
          <p:cNvPr id="18" name="Shape 14"/>
          <p:cNvSpPr/>
          <p:nvPr/>
        </p:nvSpPr>
        <p:spPr>
          <a:xfrm>
            <a:off x="4404458" y="3833019"/>
            <a:ext cx="334855" cy="334863"/>
          </a:xfrm>
          <a:prstGeom prst="roundRect">
            <a:avLst>
              <a:gd name="adj" fmla="val 40007"/>
            </a:avLst>
          </a:prstGeom>
          <a:solidFill>
            <a:srgbClr val="42A1AD"/>
          </a:solidFill>
          <a:ln w="12700">
            <a:solidFill>
              <a:srgbClr val="288793"/>
            </a:solidFill>
            <a:prstDash val="solid"/>
          </a:ln>
        </p:spPr>
      </p:sp>
      <p:sp>
        <p:nvSpPr>
          <p:cNvPr id="19" name="Text 15"/>
          <p:cNvSpPr/>
          <p:nvPr/>
        </p:nvSpPr>
        <p:spPr>
          <a:xfrm>
            <a:off x="4471380" y="3899942"/>
            <a:ext cx="200913" cy="200918"/>
          </a:xfrm>
          <a:prstGeom prst="rect">
            <a:avLst/>
          </a:prstGeom>
          <a:noFill/>
          <a:ln/>
        </p:spPr>
        <p:txBody>
          <a:bodyPr wrap="none" lIns="0" tIns="0" rIns="0" bIns="0" rtlCol="0" anchor="ctr"/>
          <a:lstStyle/>
          <a:p>
            <a:pPr marL="0" indent="0" algn="ctr">
              <a:lnSpc>
                <a:spcPct val="100000"/>
              </a:lnSpc>
              <a:buNone/>
            </a:pPr>
            <a:r>
              <a:rPr lang="en-US" sz="1550" dirty="0">
                <a:solidFill>
                  <a:srgbClr val="000000"/>
                </a:solidFill>
                <a:latin typeface="Space Grotesk Medium" pitchFamily="34" charset="0"/>
                <a:ea typeface="Space Grotesk Medium" pitchFamily="34" charset="-122"/>
                <a:cs typeface="Space Grotesk Medium" pitchFamily="34" charset="-120"/>
              </a:rPr>
              <a:t>3</a:t>
            </a:r>
            <a:endParaRPr lang="en-US" sz="1550" dirty="0"/>
          </a:p>
        </p:txBody>
      </p:sp>
      <p:sp>
        <p:nvSpPr>
          <p:cNvPr id="20" name="Text 16"/>
          <p:cNvSpPr/>
          <p:nvPr/>
        </p:nvSpPr>
        <p:spPr>
          <a:xfrm>
            <a:off x="661475" y="3888780"/>
            <a:ext cx="3166190" cy="401836"/>
          </a:xfrm>
          <a:prstGeom prst="rect">
            <a:avLst/>
          </a:prstGeom>
          <a:noFill/>
          <a:ln/>
        </p:spPr>
        <p:txBody>
          <a:bodyPr wrap="square" lIns="0" tIns="0" rIns="0" bIns="0" rtlCol="0" anchor="t">
            <a:normAutofit/>
          </a:bodyPr>
          <a:lstStyle/>
          <a:p>
            <a:pPr marL="0" indent="0" algn="r">
              <a:lnSpc>
                <a:spcPct val="83000"/>
              </a:lnSpc>
              <a:buNone/>
            </a:pPr>
            <a:r>
              <a:rPr lang="en-US" sz="1550" b="1" dirty="0">
                <a:solidFill>
                  <a:srgbClr val="FFFFFF"/>
                </a:solidFill>
                <a:latin typeface="Space Grotesk Bold" pitchFamily="34" charset="0"/>
                <a:ea typeface="Space Grotesk Bold" pitchFamily="34" charset="-122"/>
                <a:cs typeface="Space Grotesk Bold" pitchFamily="34" charset="-120"/>
              </a:rPr>
              <a:t>Phase 3: Full Rollout (Weeks 9-14)</a:t>
            </a:r>
            <a:endParaRPr lang="en-US" sz="1550" dirty="0"/>
          </a:p>
        </p:txBody>
      </p:sp>
      <p:sp>
        <p:nvSpPr>
          <p:cNvPr id="21" name="Text 17"/>
          <p:cNvSpPr/>
          <p:nvPr/>
        </p:nvSpPr>
        <p:spPr>
          <a:xfrm>
            <a:off x="661475" y="4370983"/>
            <a:ext cx="3166190" cy="1060152"/>
          </a:xfrm>
          <a:prstGeom prst="rect">
            <a:avLst/>
          </a:prstGeom>
          <a:noFill/>
          <a:ln/>
        </p:spPr>
        <p:txBody>
          <a:bodyPr wrap="square" lIns="0" tIns="0" rIns="0" bIns="0" rtlCol="0" anchor="t">
            <a:normAutofit/>
          </a:bodyPr>
          <a:lstStyle/>
          <a:p>
            <a:pPr marL="0" indent="0" algn="r">
              <a:lnSpc>
                <a:spcPct val="119000"/>
              </a:lnSpc>
              <a:buNone/>
            </a:pPr>
            <a:r>
              <a:rPr lang="en-US" sz="1150" dirty="0">
                <a:solidFill>
                  <a:srgbClr val="CFCFCF"/>
                </a:solidFill>
                <a:latin typeface="Source Sans 3" pitchFamily="34" charset="0"/>
                <a:ea typeface="Source Sans 3" pitchFamily="34" charset="-122"/>
                <a:cs typeface="Source Sans 3" pitchFamily="34" charset="-120"/>
              </a:rPr>
              <a:t>Enrolled remaining 13,000 devices across all employee segments. Implemented role-based policies for different departments. Activated geofencing and location-based controls for field teams. Enabled BYOD containerization.</a:t>
            </a:r>
            <a:endParaRPr lang="en-US" sz="1150" dirty="0"/>
          </a:p>
        </p:txBody>
      </p:sp>
      <p:sp>
        <p:nvSpPr>
          <p:cNvPr id="22" name="Shape 18"/>
          <p:cNvSpPr/>
          <p:nvPr/>
        </p:nvSpPr>
        <p:spPr>
          <a:xfrm>
            <a:off x="4720264" y="4923929"/>
            <a:ext cx="446473" cy="19050"/>
          </a:xfrm>
          <a:prstGeom prst="roundRect">
            <a:avLst>
              <a:gd name="adj" fmla="val 49999"/>
            </a:avLst>
          </a:prstGeom>
          <a:solidFill>
            <a:srgbClr val="288793"/>
          </a:solidFill>
          <a:ln/>
        </p:spPr>
      </p:sp>
      <p:sp>
        <p:nvSpPr>
          <p:cNvPr id="23" name="Shape 19"/>
          <p:cNvSpPr/>
          <p:nvPr/>
        </p:nvSpPr>
        <p:spPr>
          <a:xfrm>
            <a:off x="4404458" y="4766072"/>
            <a:ext cx="334855" cy="334863"/>
          </a:xfrm>
          <a:prstGeom prst="roundRect">
            <a:avLst>
              <a:gd name="adj" fmla="val 40007"/>
            </a:avLst>
          </a:prstGeom>
          <a:solidFill>
            <a:srgbClr val="42A1AD"/>
          </a:solidFill>
          <a:ln w="12700">
            <a:solidFill>
              <a:srgbClr val="288793"/>
            </a:solidFill>
            <a:prstDash val="solid"/>
          </a:ln>
        </p:spPr>
      </p:sp>
      <p:sp>
        <p:nvSpPr>
          <p:cNvPr id="24" name="Text 20"/>
          <p:cNvSpPr/>
          <p:nvPr/>
        </p:nvSpPr>
        <p:spPr>
          <a:xfrm>
            <a:off x="4471380" y="4832995"/>
            <a:ext cx="200913" cy="200918"/>
          </a:xfrm>
          <a:prstGeom prst="rect">
            <a:avLst/>
          </a:prstGeom>
          <a:noFill/>
          <a:ln/>
        </p:spPr>
        <p:txBody>
          <a:bodyPr wrap="none" lIns="0" tIns="0" rIns="0" bIns="0" rtlCol="0" anchor="ctr"/>
          <a:lstStyle/>
          <a:p>
            <a:pPr marL="0" indent="0" algn="ctr">
              <a:lnSpc>
                <a:spcPct val="100000"/>
              </a:lnSpc>
              <a:buNone/>
            </a:pPr>
            <a:r>
              <a:rPr lang="en-US" sz="1550" dirty="0">
                <a:solidFill>
                  <a:srgbClr val="000000"/>
                </a:solidFill>
                <a:latin typeface="Space Grotesk Medium" pitchFamily="34" charset="0"/>
                <a:ea typeface="Space Grotesk Medium" pitchFamily="34" charset="-122"/>
                <a:cs typeface="Space Grotesk Medium" pitchFamily="34" charset="-120"/>
              </a:rPr>
              <a:t>4</a:t>
            </a:r>
            <a:endParaRPr lang="en-US" sz="1550" dirty="0"/>
          </a:p>
        </p:txBody>
      </p:sp>
      <p:sp>
        <p:nvSpPr>
          <p:cNvPr id="25" name="Text 21"/>
          <p:cNvSpPr/>
          <p:nvPr/>
        </p:nvSpPr>
        <p:spPr>
          <a:xfrm>
            <a:off x="5316107" y="4821833"/>
            <a:ext cx="3166190" cy="401836"/>
          </a:xfrm>
          <a:prstGeom prst="rect">
            <a:avLst/>
          </a:prstGeom>
          <a:noFill/>
          <a:ln/>
        </p:spPr>
        <p:txBody>
          <a:bodyPr wrap="square" lIns="0" tIns="0" rIns="0" bIns="0" rtlCol="0" anchor="t">
            <a:normAutofit/>
          </a:bodyPr>
          <a:lstStyle/>
          <a:p>
            <a:pPr marL="0" indent="0" algn="l">
              <a:lnSpc>
                <a:spcPct val="83000"/>
              </a:lnSpc>
              <a:buNone/>
            </a:pPr>
            <a:r>
              <a:rPr lang="en-US" sz="1550" b="1" dirty="0">
                <a:solidFill>
                  <a:srgbClr val="FFFFFF"/>
                </a:solidFill>
                <a:latin typeface="Space Grotesk Bold" pitchFamily="34" charset="0"/>
                <a:ea typeface="Space Grotesk Bold" pitchFamily="34" charset="-122"/>
                <a:cs typeface="Space Grotesk Bold" pitchFamily="34" charset="-120"/>
              </a:rPr>
              <a:t>Phase 4: Optimization &amp; Support (Weeks 15-16+)</a:t>
            </a:r>
            <a:endParaRPr lang="en-US" sz="1550" dirty="0"/>
          </a:p>
        </p:txBody>
      </p:sp>
      <p:sp>
        <p:nvSpPr>
          <p:cNvPr id="26" name="Text 22"/>
          <p:cNvSpPr/>
          <p:nvPr/>
        </p:nvSpPr>
        <p:spPr>
          <a:xfrm>
            <a:off x="5316107" y="5304036"/>
            <a:ext cx="3166190" cy="1060152"/>
          </a:xfrm>
          <a:prstGeom prst="rect">
            <a:avLst/>
          </a:prstGeom>
          <a:noFill/>
          <a:ln/>
        </p:spPr>
        <p:txBody>
          <a:bodyPr wrap="square" lIns="0" tIns="0" rIns="0" bIns="0" rtlCol="0" anchor="t">
            <a:normAutofit/>
          </a:bodyPr>
          <a:lstStyle/>
          <a:p>
            <a:pPr marL="0" indent="0" algn="l">
              <a:lnSpc>
                <a:spcPct val="119000"/>
              </a:lnSpc>
              <a:buNone/>
            </a:pPr>
            <a:r>
              <a:rPr lang="en-US" sz="1150" dirty="0">
                <a:solidFill>
                  <a:srgbClr val="CFCFCF"/>
                </a:solidFill>
                <a:latin typeface="Source Sans 3" pitchFamily="34" charset="0"/>
                <a:ea typeface="Source Sans 3" pitchFamily="34" charset="-122"/>
                <a:cs typeface="Source Sans 3" pitchFamily="34" charset="-120"/>
              </a:rPr>
              <a:t>Established 24/7 monitoring and security alerts. Deployed compliance dashboards and reporting. Provided ongoing optimization and policy refinement. Transitioned to managed support model.</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828899"/>
            <a:ext cx="11478330" cy="248047"/>
          </a:xfrm>
          <a:prstGeom prst="rect">
            <a:avLst/>
          </a:prstGeom>
          <a:noFill/>
          <a:ln/>
        </p:spPr>
        <p:txBody>
          <a:bodyPr wrap="none" lIns="0" tIns="0" rIns="0" bIns="0" rtlCol="0" anchor="t"/>
          <a:lstStyle/>
          <a:p>
            <a:pPr marL="0" indent="0" algn="l">
              <a:lnSpc>
                <a:spcPct val="125000"/>
              </a:lnSpc>
              <a:buNone/>
            </a:pPr>
            <a:endParaRPr lang="en-US" sz="1300" dirty="0"/>
          </a:p>
        </p:txBody>
      </p:sp>
      <p:sp>
        <p:nvSpPr>
          <p:cNvPr id="3" name="Shape 0"/>
          <p:cNvSpPr/>
          <p:nvPr/>
        </p:nvSpPr>
        <p:spPr>
          <a:xfrm>
            <a:off x="661475" y="578048"/>
            <a:ext cx="1292490" cy="188516"/>
          </a:xfrm>
          <a:prstGeom prst="roundRect">
            <a:avLst>
              <a:gd name="adj" fmla="val 47376"/>
            </a:avLst>
          </a:prstGeom>
          <a:noFill/>
          <a:ln w="6350">
            <a:solidFill>
              <a:srgbClr val="CFCFCF"/>
            </a:solidFill>
            <a:prstDash val="solid"/>
          </a:ln>
        </p:spPr>
      </p:sp>
      <p:pic>
        <p:nvPicPr>
          <p:cNvPr id="4" name="Image 0" descr="preencoded.png"/>
          <p:cNvPicPr>
            <a:picLocks noChangeAspect="1"/>
          </p:cNvPicPr>
          <p:nvPr/>
        </p:nvPicPr>
        <p:blipFill>
          <a:blip r:embed="rId3"/>
          <a:stretch>
            <a:fillRect/>
          </a:stretch>
        </p:blipFill>
        <p:spPr>
          <a:xfrm>
            <a:off x="735887" y="622697"/>
            <a:ext cx="99216" cy="99219"/>
          </a:xfrm>
          <a:prstGeom prst="rect">
            <a:avLst/>
          </a:prstGeom>
        </p:spPr>
      </p:pic>
      <p:sp>
        <p:nvSpPr>
          <p:cNvPr id="5" name="Text 1"/>
          <p:cNvSpPr/>
          <p:nvPr/>
        </p:nvSpPr>
        <p:spPr>
          <a:xfrm>
            <a:off x="884711" y="615255"/>
            <a:ext cx="1604426" cy="114102"/>
          </a:xfrm>
          <a:prstGeom prst="rect">
            <a:avLst/>
          </a:prstGeom>
          <a:noFill/>
          <a:ln/>
        </p:spPr>
        <p:txBody>
          <a:bodyPr wrap="none" lIns="0" tIns="0" rIns="0" bIns="0" rtlCol="0" anchor="t"/>
          <a:lstStyle/>
          <a:p>
            <a:pPr marL="0" indent="0" algn="l">
              <a:lnSpc>
                <a:spcPct val="96000"/>
              </a:lnSpc>
              <a:buNone/>
            </a:pPr>
            <a:r>
              <a:rPr lang="en-US" sz="750" dirty="0">
                <a:solidFill>
                  <a:srgbClr val="CFCFCF"/>
                </a:solidFill>
                <a:latin typeface="Source Sans 3" pitchFamily="34" charset="0"/>
                <a:ea typeface="Source Sans 3" pitchFamily="34" charset="-122"/>
                <a:cs typeface="Source Sans 3" pitchFamily="34" charset="-120"/>
              </a:rPr>
              <a:t>CLIENT SUCCESS STORY</a:t>
            </a:r>
            <a:endParaRPr lang="en-US" sz="750" dirty="0"/>
          </a:p>
        </p:txBody>
      </p:sp>
      <p:sp>
        <p:nvSpPr>
          <p:cNvPr id="6" name="Text 2"/>
          <p:cNvSpPr/>
          <p:nvPr/>
        </p:nvSpPr>
        <p:spPr>
          <a:xfrm>
            <a:off x="661475" y="803771"/>
            <a:ext cx="10868745" cy="279102"/>
          </a:xfrm>
          <a:prstGeom prst="rect">
            <a:avLst/>
          </a:prstGeom>
          <a:noFill/>
          <a:ln/>
        </p:spPr>
        <p:txBody>
          <a:bodyPr wrap="none" lIns="0" tIns="0" rIns="0" bIns="0" rtlCol="0" anchor="t"/>
          <a:lstStyle/>
          <a:p>
            <a:pPr marL="0" indent="0" algn="l">
              <a:lnSpc>
                <a:spcPct val="83000"/>
              </a:lnSpc>
              <a:buNone/>
            </a:pPr>
            <a:r>
              <a:rPr lang="en-US" sz="2150" dirty="0">
                <a:solidFill>
                  <a:srgbClr val="FFFFFF"/>
                </a:solidFill>
                <a:latin typeface="Space Grotesk Medium" pitchFamily="34" charset="0"/>
                <a:ea typeface="Space Grotesk Medium" pitchFamily="34" charset="-122"/>
                <a:cs typeface="Space Grotesk Medium" pitchFamily="34" charset="-120"/>
              </a:rPr>
              <a:t>Case Study: Global EMM Corporation</a:t>
            </a:r>
            <a:endParaRPr lang="en-US" sz="2150" dirty="0"/>
          </a:p>
        </p:txBody>
      </p:sp>
      <p:pic>
        <p:nvPicPr>
          <p:cNvPr id="7" name="Image 1" descr="preencoded.png"/>
          <p:cNvPicPr>
            <a:picLocks noChangeAspect="1"/>
          </p:cNvPicPr>
          <p:nvPr/>
        </p:nvPicPr>
        <p:blipFill>
          <a:blip r:embed="rId4"/>
          <a:stretch>
            <a:fillRect/>
          </a:stretch>
        </p:blipFill>
        <p:spPr>
          <a:xfrm>
            <a:off x="661475" y="1326952"/>
            <a:ext cx="3520689" cy="2898378"/>
          </a:xfrm>
          <a:prstGeom prst="rect">
            <a:avLst/>
          </a:prstGeom>
        </p:spPr>
      </p:pic>
      <p:sp>
        <p:nvSpPr>
          <p:cNvPr id="8" name="Text 3"/>
          <p:cNvSpPr/>
          <p:nvPr/>
        </p:nvSpPr>
        <p:spPr>
          <a:xfrm>
            <a:off x="661475" y="4329906"/>
            <a:ext cx="4724480" cy="167481"/>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Space Grotesk Medium" pitchFamily="34" charset="0"/>
                <a:ea typeface="Space Grotesk Medium" pitchFamily="34" charset="-122"/>
                <a:cs typeface="Space Grotesk Medium" pitchFamily="34" charset="-120"/>
              </a:rPr>
              <a:t>The Challenge</a:t>
            </a:r>
            <a:endParaRPr lang="en-US" sz="1300" dirty="0"/>
          </a:p>
        </p:txBody>
      </p:sp>
      <p:sp>
        <p:nvSpPr>
          <p:cNvPr id="9" name="Text 4"/>
          <p:cNvSpPr/>
          <p:nvPr/>
        </p:nvSpPr>
        <p:spPr>
          <a:xfrm>
            <a:off x="661475" y="4590355"/>
            <a:ext cx="4724480" cy="976313"/>
          </a:xfrm>
          <a:prstGeom prst="rect">
            <a:avLst/>
          </a:prstGeom>
          <a:noFill/>
          <a:ln/>
        </p:spPr>
        <p:txBody>
          <a:bodyPr wrap="square" lIns="0" tIns="0" rIns="0" bIns="0" rtlCol="0" anchor="t">
            <a:normAutofit/>
          </a:bodyPr>
          <a:lstStyle/>
          <a:p>
            <a:pPr marL="0" indent="0" algn="l">
              <a:lnSpc>
                <a:spcPct val="109000"/>
              </a:lnSpc>
              <a:buNone/>
            </a:pPr>
            <a:r>
              <a:rPr lang="en-US" sz="950" dirty="0">
                <a:solidFill>
                  <a:srgbClr val="CFCFCF"/>
                </a:solidFill>
                <a:latin typeface="Source Sans 3" pitchFamily="34" charset="0"/>
                <a:ea typeface="Source Sans 3" pitchFamily="34" charset="-122"/>
                <a:cs typeface="Source Sans 3" pitchFamily="34" charset="-120"/>
              </a:rPr>
              <a:t>Global EMM Corporation struggled with managing their rapidly growing mobile device ecosystem. With 15,000+ devices across multiple locations, employee types, and ownership models, they faced critical challenges: 87% of devices were unmanaged and unmonitored, security policies were manually enforced with inconsistent compliance, employee onboarding required 8+ hours of IT support per person, lost or stolen devices couldn't be remotely wiped, and field teams had no location visibility or geofencing controls.</a:t>
            </a:r>
            <a:endParaRPr lang="en-US" sz="950" dirty="0"/>
          </a:p>
        </p:txBody>
      </p:sp>
      <p:pic>
        <p:nvPicPr>
          <p:cNvPr id="10" name="Image 2" descr="preencoded.png"/>
          <p:cNvPicPr>
            <a:picLocks noChangeAspect="1"/>
          </p:cNvPicPr>
          <p:nvPr/>
        </p:nvPicPr>
        <p:blipFill>
          <a:blip r:embed="rId5"/>
          <a:stretch>
            <a:fillRect/>
          </a:stretch>
        </p:blipFill>
        <p:spPr>
          <a:xfrm>
            <a:off x="5694915" y="1326952"/>
            <a:ext cx="5841556" cy="952500"/>
          </a:xfrm>
          <a:prstGeom prst="rect">
            <a:avLst/>
          </a:prstGeom>
        </p:spPr>
      </p:pic>
      <p:sp>
        <p:nvSpPr>
          <p:cNvPr id="11" name="Text 5"/>
          <p:cNvSpPr/>
          <p:nvPr/>
        </p:nvSpPr>
        <p:spPr>
          <a:xfrm>
            <a:off x="5818935" y="1791990"/>
            <a:ext cx="5593516" cy="223242"/>
          </a:xfrm>
          <a:prstGeom prst="rect">
            <a:avLst/>
          </a:prstGeom>
          <a:noFill/>
          <a:ln/>
        </p:spPr>
        <p:txBody>
          <a:bodyPr wrap="none" lIns="0" tIns="0" rIns="0" bIns="0" rtlCol="0" anchor="t"/>
          <a:lstStyle/>
          <a:p>
            <a:pPr marL="0" indent="0" algn="l">
              <a:lnSpc>
                <a:spcPct val="83000"/>
              </a:lnSpc>
              <a:buNone/>
            </a:pPr>
            <a:r>
              <a:rPr lang="en-US" sz="1750" dirty="0">
                <a:solidFill>
                  <a:srgbClr val="42A1AD"/>
                </a:solidFill>
                <a:latin typeface="Space Grotesk Medium" pitchFamily="34" charset="0"/>
                <a:ea typeface="Space Grotesk Medium" pitchFamily="34" charset="-122"/>
                <a:cs typeface="Space Grotesk Medium" pitchFamily="34" charset="-120"/>
              </a:rPr>
              <a:t>The Solution</a:t>
            </a:r>
            <a:endParaRPr lang="en-US" sz="1750" dirty="0"/>
          </a:p>
        </p:txBody>
      </p:sp>
      <p:sp>
        <p:nvSpPr>
          <p:cNvPr id="12" name="Text 6"/>
          <p:cNvSpPr/>
          <p:nvPr/>
        </p:nvSpPr>
        <p:spPr>
          <a:xfrm>
            <a:off x="5818935" y="2108200"/>
            <a:ext cx="5593516" cy="650875"/>
          </a:xfrm>
          <a:prstGeom prst="rect">
            <a:avLst/>
          </a:prstGeom>
          <a:noFill/>
          <a:ln/>
        </p:spPr>
        <p:txBody>
          <a:bodyPr wrap="square" lIns="0" tIns="0" rIns="0" bIns="0" rtlCol="0" anchor="t">
            <a:normAutofit/>
          </a:bodyPr>
          <a:lstStyle/>
          <a:p>
            <a:pPr marL="0" indent="0" algn="l">
              <a:lnSpc>
                <a:spcPct val="109000"/>
              </a:lnSpc>
              <a:buNone/>
            </a:pPr>
            <a:r>
              <a:rPr lang="en-US" sz="950" dirty="0">
                <a:solidFill>
                  <a:srgbClr val="FFFFFF"/>
                </a:solidFill>
                <a:latin typeface="Source Sans 3" pitchFamily="34" charset="0"/>
                <a:ea typeface="Source Sans 3" pitchFamily="34" charset="-122"/>
                <a:cs typeface="Source Sans 3" pitchFamily="34" charset="-120"/>
              </a:rPr>
              <a:t>We implemented a comprehensive EMM platform with automated enrollment, role-based policy management, and real-time monitoring. The solution included: unified console for all device types, automated enrollment workflows reducing onboarding to 15 minutes, geofencing and location tracking for field teams, containerization for BYOD devices, and centralized compliance reporting.</a:t>
            </a:r>
            <a:endParaRPr lang="en-US" sz="950" dirty="0"/>
          </a:p>
        </p:txBody>
      </p:sp>
      <p:sp>
        <p:nvSpPr>
          <p:cNvPr id="13" name="Text 7"/>
          <p:cNvSpPr/>
          <p:nvPr/>
        </p:nvSpPr>
        <p:spPr>
          <a:xfrm>
            <a:off x="5694915" y="2987675"/>
            <a:ext cx="6451141" cy="162719"/>
          </a:xfrm>
          <a:prstGeom prst="rect">
            <a:avLst/>
          </a:prstGeom>
          <a:noFill/>
          <a:ln/>
        </p:spPr>
        <p:txBody>
          <a:bodyPr wrap="none" lIns="0" tIns="0" rIns="0" bIns="0" rtlCol="0" anchor="t"/>
          <a:lstStyle/>
          <a:p>
            <a:pPr marL="0" indent="0" algn="l">
              <a:lnSpc>
                <a:spcPct val="109000"/>
              </a:lnSpc>
              <a:buNone/>
            </a:pPr>
            <a:endParaRPr lang="en-US" sz="950" dirty="0"/>
          </a:p>
        </p:txBody>
      </p:sp>
      <p:sp>
        <p:nvSpPr>
          <p:cNvPr id="14" name="Text 8"/>
          <p:cNvSpPr/>
          <p:nvPr/>
        </p:nvSpPr>
        <p:spPr>
          <a:xfrm>
            <a:off x="5694915" y="3243362"/>
            <a:ext cx="5841556" cy="223242"/>
          </a:xfrm>
          <a:prstGeom prst="rect">
            <a:avLst/>
          </a:prstGeom>
          <a:noFill/>
          <a:ln/>
        </p:spPr>
        <p:txBody>
          <a:bodyPr wrap="none" lIns="0" tIns="0" rIns="0" bIns="0" rtlCol="0" anchor="t"/>
          <a:lstStyle/>
          <a:p>
            <a:pPr marL="0" indent="0" algn="l">
              <a:lnSpc>
                <a:spcPct val="83000"/>
              </a:lnSpc>
              <a:buNone/>
            </a:pPr>
            <a:r>
              <a:rPr lang="en-US" sz="1750" dirty="0">
                <a:solidFill>
                  <a:srgbClr val="FFFFFF"/>
                </a:solidFill>
                <a:latin typeface="Space Grotesk Medium" pitchFamily="34" charset="0"/>
                <a:ea typeface="Space Grotesk Medium" pitchFamily="34" charset="-122"/>
                <a:cs typeface="Space Grotesk Medium" pitchFamily="34" charset="-120"/>
              </a:rPr>
              <a:t>The Results</a:t>
            </a:r>
            <a:endParaRPr lang="en-US" sz="1750" dirty="0"/>
          </a:p>
        </p:txBody>
      </p:sp>
      <p:sp>
        <p:nvSpPr>
          <p:cNvPr id="15" name="Shape 9"/>
          <p:cNvSpPr/>
          <p:nvPr/>
        </p:nvSpPr>
        <p:spPr>
          <a:xfrm>
            <a:off x="5694915" y="3633192"/>
            <a:ext cx="3761586" cy="154980"/>
          </a:xfrm>
          <a:prstGeom prst="roundRect">
            <a:avLst>
              <a:gd name="adj" fmla="val 49999"/>
            </a:avLst>
          </a:prstGeom>
          <a:solidFill>
            <a:srgbClr val="0F1416"/>
          </a:solidFill>
          <a:ln w="12700">
            <a:solidFill>
              <a:srgbClr val="437F87"/>
            </a:solidFill>
            <a:prstDash val="solid"/>
          </a:ln>
        </p:spPr>
      </p:sp>
      <p:sp>
        <p:nvSpPr>
          <p:cNvPr id="16" name="Shape 10"/>
          <p:cNvSpPr/>
          <p:nvPr/>
        </p:nvSpPr>
        <p:spPr>
          <a:xfrm>
            <a:off x="5694915" y="3633192"/>
            <a:ext cx="3761586" cy="154980"/>
          </a:xfrm>
          <a:prstGeom prst="roundRect">
            <a:avLst>
              <a:gd name="adj" fmla="val 49999"/>
            </a:avLst>
          </a:prstGeom>
          <a:solidFill>
            <a:srgbClr val="2A666E"/>
          </a:solidFill>
          <a:ln/>
        </p:spPr>
      </p:sp>
      <p:sp>
        <p:nvSpPr>
          <p:cNvPr id="17" name="Text 11"/>
          <p:cNvSpPr/>
          <p:nvPr/>
        </p:nvSpPr>
        <p:spPr>
          <a:xfrm>
            <a:off x="9549467" y="3633093"/>
            <a:ext cx="526541" cy="155079"/>
          </a:xfrm>
          <a:prstGeom prst="rect">
            <a:avLst/>
          </a:prstGeom>
          <a:noFill/>
          <a:ln/>
        </p:spPr>
        <p:txBody>
          <a:bodyPr wrap="none" lIns="0" tIns="0" rIns="0" bIns="0" rtlCol="0" anchor="t"/>
          <a:lstStyle/>
          <a:p>
            <a:pPr marL="0" indent="0" algn="l">
              <a:lnSpc>
                <a:spcPct val="83000"/>
              </a:lnSpc>
              <a:buNone/>
            </a:pPr>
            <a:r>
              <a:rPr lang="en-US" sz="1200" dirty="0">
                <a:solidFill>
                  <a:srgbClr val="CFCFCF"/>
                </a:solidFill>
                <a:latin typeface="Space Grotesk Medium" pitchFamily="34" charset="0"/>
                <a:ea typeface="Space Grotesk Medium" pitchFamily="34" charset="-122"/>
                <a:cs typeface="Space Grotesk Medium" pitchFamily="34" charset="-120"/>
              </a:rPr>
              <a:t>340hrs</a:t>
            </a:r>
            <a:endParaRPr lang="en-US" sz="1200" dirty="0"/>
          </a:p>
        </p:txBody>
      </p:sp>
      <p:sp>
        <p:nvSpPr>
          <p:cNvPr id="18" name="Text 12"/>
          <p:cNvSpPr/>
          <p:nvPr/>
        </p:nvSpPr>
        <p:spPr>
          <a:xfrm>
            <a:off x="5694915" y="3919934"/>
            <a:ext cx="5841556" cy="139601"/>
          </a:xfrm>
          <a:prstGeom prst="rect">
            <a:avLst/>
          </a:prstGeom>
          <a:noFill/>
          <a:ln/>
        </p:spPr>
        <p:txBody>
          <a:bodyPr wrap="none" lIns="0" tIns="0" rIns="0" bIns="0" rtlCol="0" anchor="t"/>
          <a:lstStyle/>
          <a:p>
            <a:pPr marL="0" indent="0" algn="l">
              <a:lnSpc>
                <a:spcPct val="83000"/>
              </a:lnSpc>
              <a:buNone/>
            </a:pPr>
            <a:r>
              <a:rPr lang="en-US" sz="1050" dirty="0">
                <a:solidFill>
                  <a:srgbClr val="FFFFFF"/>
                </a:solidFill>
                <a:latin typeface="Space Grotesk Medium" pitchFamily="34" charset="0"/>
                <a:ea typeface="Space Grotesk Medium" pitchFamily="34" charset="-122"/>
                <a:cs typeface="Space Grotesk Medium" pitchFamily="34" charset="-120"/>
              </a:rPr>
              <a:t>Monthly IT Hours Saved</a:t>
            </a:r>
            <a:endParaRPr lang="en-US" sz="1050" dirty="0"/>
          </a:p>
        </p:txBody>
      </p:sp>
      <p:sp>
        <p:nvSpPr>
          <p:cNvPr id="19" name="Text 13"/>
          <p:cNvSpPr/>
          <p:nvPr/>
        </p:nvSpPr>
        <p:spPr>
          <a:xfrm>
            <a:off x="5694915" y="4152503"/>
            <a:ext cx="5841556" cy="162719"/>
          </a:xfrm>
          <a:prstGeom prst="rect">
            <a:avLst/>
          </a:prstGeom>
          <a:noFill/>
          <a:ln/>
        </p:spPr>
        <p:txBody>
          <a:bodyPr wrap="none" lIns="0" tIns="0" rIns="0" bIns="0" rtlCol="0" anchor="t"/>
          <a:lstStyle/>
          <a:p>
            <a:pPr marL="0" indent="0" algn="l">
              <a:lnSpc>
                <a:spcPct val="109000"/>
              </a:lnSpc>
              <a:buNone/>
            </a:pPr>
            <a:r>
              <a:rPr lang="en-US" sz="950" dirty="0">
                <a:solidFill>
                  <a:srgbClr val="CFCFCF"/>
                </a:solidFill>
                <a:latin typeface="Source Sans 3" pitchFamily="34" charset="0"/>
                <a:ea typeface="Source Sans 3" pitchFamily="34" charset="-122"/>
                <a:cs typeface="Source Sans 3" pitchFamily="34" charset="-120"/>
              </a:rPr>
              <a:t>Automated enrollment and policy management</a:t>
            </a:r>
            <a:endParaRPr lang="en-US" sz="950" dirty="0"/>
          </a:p>
        </p:txBody>
      </p:sp>
      <p:sp>
        <p:nvSpPr>
          <p:cNvPr id="20" name="Shape 14"/>
          <p:cNvSpPr/>
          <p:nvPr/>
        </p:nvSpPr>
        <p:spPr>
          <a:xfrm>
            <a:off x="5694915" y="4563269"/>
            <a:ext cx="3844829" cy="154980"/>
          </a:xfrm>
          <a:prstGeom prst="roundRect">
            <a:avLst>
              <a:gd name="adj" fmla="val 49999"/>
            </a:avLst>
          </a:prstGeom>
          <a:solidFill>
            <a:srgbClr val="0F1416"/>
          </a:solidFill>
          <a:ln w="12700">
            <a:solidFill>
              <a:srgbClr val="437F87"/>
            </a:solidFill>
            <a:prstDash val="solid"/>
          </a:ln>
        </p:spPr>
      </p:sp>
      <p:sp>
        <p:nvSpPr>
          <p:cNvPr id="21" name="Shape 15"/>
          <p:cNvSpPr/>
          <p:nvPr/>
        </p:nvSpPr>
        <p:spPr>
          <a:xfrm>
            <a:off x="5694915" y="4563269"/>
            <a:ext cx="3813973" cy="154980"/>
          </a:xfrm>
          <a:prstGeom prst="roundRect">
            <a:avLst>
              <a:gd name="adj" fmla="val 49999"/>
            </a:avLst>
          </a:prstGeom>
          <a:solidFill>
            <a:srgbClr val="2A666E"/>
          </a:solidFill>
          <a:ln/>
        </p:spPr>
      </p:sp>
      <p:sp>
        <p:nvSpPr>
          <p:cNvPr id="22" name="Text 16"/>
          <p:cNvSpPr/>
          <p:nvPr/>
        </p:nvSpPr>
        <p:spPr>
          <a:xfrm>
            <a:off x="9632709" y="4563170"/>
            <a:ext cx="443298" cy="155079"/>
          </a:xfrm>
          <a:prstGeom prst="rect">
            <a:avLst/>
          </a:prstGeom>
          <a:noFill/>
          <a:ln/>
        </p:spPr>
        <p:txBody>
          <a:bodyPr wrap="none" lIns="0" tIns="0" rIns="0" bIns="0" rtlCol="0" anchor="t"/>
          <a:lstStyle/>
          <a:p>
            <a:pPr marL="0" indent="0" algn="l">
              <a:lnSpc>
                <a:spcPct val="83000"/>
              </a:lnSpc>
              <a:buNone/>
            </a:pPr>
            <a:r>
              <a:rPr lang="en-US" sz="1200" dirty="0">
                <a:solidFill>
                  <a:srgbClr val="CFCFCF"/>
                </a:solidFill>
                <a:latin typeface="Space Grotesk Medium" pitchFamily="34" charset="0"/>
                <a:ea typeface="Space Grotesk Medium" pitchFamily="34" charset="-122"/>
                <a:cs typeface="Space Grotesk Medium" pitchFamily="34" charset="-120"/>
              </a:rPr>
              <a:t>99.2%</a:t>
            </a:r>
            <a:endParaRPr lang="en-US" sz="1200" dirty="0"/>
          </a:p>
        </p:txBody>
      </p:sp>
      <p:sp>
        <p:nvSpPr>
          <p:cNvPr id="23" name="Text 17"/>
          <p:cNvSpPr/>
          <p:nvPr/>
        </p:nvSpPr>
        <p:spPr>
          <a:xfrm>
            <a:off x="5694915" y="4850011"/>
            <a:ext cx="5841556" cy="139601"/>
          </a:xfrm>
          <a:prstGeom prst="rect">
            <a:avLst/>
          </a:prstGeom>
          <a:noFill/>
          <a:ln/>
        </p:spPr>
        <p:txBody>
          <a:bodyPr wrap="none" lIns="0" tIns="0" rIns="0" bIns="0" rtlCol="0" anchor="t"/>
          <a:lstStyle/>
          <a:p>
            <a:pPr marL="0" indent="0" algn="l">
              <a:lnSpc>
                <a:spcPct val="83000"/>
              </a:lnSpc>
              <a:buNone/>
            </a:pPr>
            <a:r>
              <a:rPr lang="en-US" sz="1050" dirty="0">
                <a:solidFill>
                  <a:srgbClr val="FFFFFF"/>
                </a:solidFill>
                <a:latin typeface="Space Grotesk Medium" pitchFamily="34" charset="0"/>
                <a:ea typeface="Space Grotesk Medium" pitchFamily="34" charset="-122"/>
                <a:cs typeface="Space Grotesk Medium" pitchFamily="34" charset="-120"/>
              </a:rPr>
              <a:t>Compliance Rate Achieved</a:t>
            </a:r>
            <a:endParaRPr lang="en-US" sz="1050" dirty="0"/>
          </a:p>
        </p:txBody>
      </p:sp>
      <p:sp>
        <p:nvSpPr>
          <p:cNvPr id="24" name="Text 18"/>
          <p:cNvSpPr/>
          <p:nvPr/>
        </p:nvSpPr>
        <p:spPr>
          <a:xfrm>
            <a:off x="5694915" y="5082580"/>
            <a:ext cx="5841556" cy="162719"/>
          </a:xfrm>
          <a:prstGeom prst="rect">
            <a:avLst/>
          </a:prstGeom>
          <a:noFill/>
          <a:ln/>
        </p:spPr>
        <p:txBody>
          <a:bodyPr wrap="none" lIns="0" tIns="0" rIns="0" bIns="0" rtlCol="0" anchor="t"/>
          <a:lstStyle/>
          <a:p>
            <a:pPr marL="0" indent="0" algn="l">
              <a:lnSpc>
                <a:spcPct val="109000"/>
              </a:lnSpc>
              <a:buNone/>
            </a:pPr>
            <a:r>
              <a:rPr lang="en-US" sz="950" dirty="0">
                <a:solidFill>
                  <a:srgbClr val="CFCFCF"/>
                </a:solidFill>
                <a:latin typeface="Source Sans 3" pitchFamily="34" charset="0"/>
                <a:ea typeface="Source Sans 3" pitchFamily="34" charset="-122"/>
                <a:cs typeface="Source Sans 3" pitchFamily="34" charset="-120"/>
              </a:rPr>
              <a:t>Automated monitoring and enforcement</a:t>
            </a:r>
            <a:endParaRPr lang="en-US" sz="950" dirty="0"/>
          </a:p>
        </p:txBody>
      </p:sp>
      <p:sp>
        <p:nvSpPr>
          <p:cNvPr id="25" name="Shape 19"/>
          <p:cNvSpPr/>
          <p:nvPr/>
        </p:nvSpPr>
        <p:spPr>
          <a:xfrm>
            <a:off x="5694915" y="5493345"/>
            <a:ext cx="3989883" cy="154980"/>
          </a:xfrm>
          <a:prstGeom prst="roundRect">
            <a:avLst>
              <a:gd name="adj" fmla="val 49999"/>
            </a:avLst>
          </a:prstGeom>
          <a:solidFill>
            <a:srgbClr val="0F1416"/>
          </a:solidFill>
          <a:ln w="12700">
            <a:solidFill>
              <a:srgbClr val="437F87"/>
            </a:solidFill>
            <a:prstDash val="solid"/>
          </a:ln>
        </p:spPr>
      </p:sp>
      <p:sp>
        <p:nvSpPr>
          <p:cNvPr id="26" name="Shape 20"/>
          <p:cNvSpPr/>
          <p:nvPr/>
        </p:nvSpPr>
        <p:spPr>
          <a:xfrm>
            <a:off x="5694915" y="5493345"/>
            <a:ext cx="3471180" cy="154980"/>
          </a:xfrm>
          <a:prstGeom prst="roundRect">
            <a:avLst>
              <a:gd name="adj" fmla="val 49999"/>
            </a:avLst>
          </a:prstGeom>
          <a:solidFill>
            <a:srgbClr val="2A666E"/>
          </a:solidFill>
          <a:ln/>
        </p:spPr>
      </p:sp>
      <p:sp>
        <p:nvSpPr>
          <p:cNvPr id="27" name="Text 21"/>
          <p:cNvSpPr/>
          <p:nvPr/>
        </p:nvSpPr>
        <p:spPr>
          <a:xfrm>
            <a:off x="9777763" y="5493246"/>
            <a:ext cx="298244" cy="155079"/>
          </a:xfrm>
          <a:prstGeom prst="rect">
            <a:avLst/>
          </a:prstGeom>
          <a:noFill/>
          <a:ln/>
        </p:spPr>
        <p:txBody>
          <a:bodyPr wrap="none" lIns="0" tIns="0" rIns="0" bIns="0" rtlCol="0" anchor="t"/>
          <a:lstStyle/>
          <a:p>
            <a:pPr marL="0" indent="0" algn="l">
              <a:lnSpc>
                <a:spcPct val="83000"/>
              </a:lnSpc>
              <a:buNone/>
            </a:pPr>
            <a:r>
              <a:rPr lang="en-US" sz="1200" dirty="0">
                <a:solidFill>
                  <a:srgbClr val="CFCFCF"/>
                </a:solidFill>
                <a:latin typeface="Space Grotesk Medium" pitchFamily="34" charset="0"/>
                <a:ea typeface="Space Grotesk Medium" pitchFamily="34" charset="-122"/>
                <a:cs typeface="Space Grotesk Medium" pitchFamily="34" charset="-120"/>
              </a:rPr>
              <a:t>87%</a:t>
            </a:r>
            <a:endParaRPr lang="en-US" sz="1200" dirty="0"/>
          </a:p>
        </p:txBody>
      </p:sp>
      <p:sp>
        <p:nvSpPr>
          <p:cNvPr id="28" name="Text 22"/>
          <p:cNvSpPr/>
          <p:nvPr/>
        </p:nvSpPr>
        <p:spPr>
          <a:xfrm>
            <a:off x="5694915" y="5780087"/>
            <a:ext cx="5841556" cy="139601"/>
          </a:xfrm>
          <a:prstGeom prst="rect">
            <a:avLst/>
          </a:prstGeom>
          <a:noFill/>
          <a:ln/>
        </p:spPr>
        <p:txBody>
          <a:bodyPr wrap="none" lIns="0" tIns="0" rIns="0" bIns="0" rtlCol="0" anchor="t"/>
          <a:lstStyle/>
          <a:p>
            <a:pPr marL="0" indent="0" algn="l">
              <a:lnSpc>
                <a:spcPct val="83000"/>
              </a:lnSpc>
              <a:buNone/>
            </a:pPr>
            <a:r>
              <a:rPr lang="en-US" sz="1050" dirty="0">
                <a:solidFill>
                  <a:srgbClr val="FFFFFF"/>
                </a:solidFill>
                <a:latin typeface="Space Grotesk Medium" pitchFamily="34" charset="0"/>
                <a:ea typeface="Space Grotesk Medium" pitchFamily="34" charset="-122"/>
                <a:cs typeface="Space Grotesk Medium" pitchFamily="34" charset="-120"/>
              </a:rPr>
              <a:t>Security Improvement</a:t>
            </a:r>
            <a:endParaRPr lang="en-US" sz="1050" dirty="0"/>
          </a:p>
        </p:txBody>
      </p:sp>
      <p:sp>
        <p:nvSpPr>
          <p:cNvPr id="29" name="Text 23"/>
          <p:cNvSpPr/>
          <p:nvPr/>
        </p:nvSpPr>
        <p:spPr>
          <a:xfrm>
            <a:off x="5694915" y="6012656"/>
            <a:ext cx="5841556" cy="162719"/>
          </a:xfrm>
          <a:prstGeom prst="rect">
            <a:avLst/>
          </a:prstGeom>
          <a:noFill/>
          <a:ln/>
        </p:spPr>
        <p:txBody>
          <a:bodyPr wrap="none" lIns="0" tIns="0" rIns="0" bIns="0" rtlCol="0" anchor="t"/>
          <a:lstStyle/>
          <a:p>
            <a:pPr marL="0" indent="0" algn="l">
              <a:lnSpc>
                <a:spcPct val="109000"/>
              </a:lnSpc>
              <a:buNone/>
            </a:pPr>
            <a:r>
              <a:rPr lang="en-US" sz="950" dirty="0">
                <a:solidFill>
                  <a:srgbClr val="CFCFCF"/>
                </a:solidFill>
                <a:latin typeface="Source Sans 3" pitchFamily="34" charset="0"/>
                <a:ea typeface="Source Sans 3" pitchFamily="34" charset="-122"/>
                <a:cs typeface="Source Sans 3" pitchFamily="34" charset="-120"/>
              </a:rPr>
              <a:t>Eliminated unmanaged devices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828899"/>
            <a:ext cx="11478330" cy="248047"/>
          </a:xfrm>
          <a:prstGeom prst="rect">
            <a:avLst/>
          </a:prstGeom>
          <a:noFill/>
          <a:ln/>
        </p:spPr>
        <p:txBody>
          <a:bodyPr wrap="none" lIns="0" tIns="0" rIns="0" bIns="0" rtlCol="0" anchor="t"/>
          <a:lstStyle/>
          <a:p>
            <a:pPr marL="0" indent="0" algn="l">
              <a:lnSpc>
                <a:spcPct val="125000"/>
              </a:lnSpc>
              <a:buNone/>
            </a:pPr>
            <a:endParaRPr lang="en-US" sz="1300" dirty="0"/>
          </a:p>
        </p:txBody>
      </p:sp>
      <p:sp>
        <p:nvSpPr>
          <p:cNvPr id="3" name="Shape 0"/>
          <p:cNvSpPr/>
          <p:nvPr/>
        </p:nvSpPr>
        <p:spPr>
          <a:xfrm>
            <a:off x="661475" y="578346"/>
            <a:ext cx="1646395" cy="251420"/>
          </a:xfrm>
          <a:prstGeom prst="roundRect">
            <a:avLst>
              <a:gd name="adj" fmla="val 47364"/>
            </a:avLst>
          </a:prstGeom>
          <a:noFill/>
          <a:ln w="12700">
            <a:solidFill>
              <a:srgbClr val="CFCFCF"/>
            </a:solidFill>
            <a:prstDash val="solid"/>
          </a:ln>
        </p:spPr>
      </p:sp>
      <p:pic>
        <p:nvPicPr>
          <p:cNvPr id="4" name="Image 0" descr="preencoded.png"/>
          <p:cNvPicPr>
            <a:picLocks noChangeAspect="1"/>
          </p:cNvPicPr>
          <p:nvPr/>
        </p:nvPicPr>
        <p:blipFill>
          <a:blip r:embed="rId3"/>
          <a:stretch>
            <a:fillRect/>
          </a:stretch>
        </p:blipFill>
        <p:spPr>
          <a:xfrm>
            <a:off x="760691" y="637877"/>
            <a:ext cx="132255" cy="132259"/>
          </a:xfrm>
          <a:prstGeom prst="rect">
            <a:avLst/>
          </a:prstGeom>
        </p:spPr>
      </p:pic>
      <p:sp>
        <p:nvSpPr>
          <p:cNvPr id="5" name="Text 1"/>
          <p:cNvSpPr/>
          <p:nvPr/>
        </p:nvSpPr>
        <p:spPr>
          <a:xfrm>
            <a:off x="959024" y="627955"/>
            <a:ext cx="1859214" cy="152202"/>
          </a:xfrm>
          <a:prstGeom prst="rect">
            <a:avLst/>
          </a:prstGeom>
          <a:noFill/>
          <a:ln/>
        </p:spPr>
        <p:txBody>
          <a:bodyPr wrap="none" lIns="0" tIns="0" rIns="0" bIns="0" rtlCol="0" anchor="t"/>
          <a:lstStyle/>
          <a:p>
            <a:pPr marL="0" indent="0" algn="l">
              <a:lnSpc>
                <a:spcPct val="96000"/>
              </a:lnSpc>
              <a:buNone/>
            </a:pPr>
            <a:r>
              <a:rPr lang="en-US" sz="1000" dirty="0">
                <a:solidFill>
                  <a:srgbClr val="CFCFCF"/>
                </a:solidFill>
                <a:latin typeface="Source Sans 3" pitchFamily="34" charset="0"/>
                <a:ea typeface="Source Sans 3" pitchFamily="34" charset="-122"/>
                <a:cs typeface="Source Sans 3" pitchFamily="34" charset="-120"/>
              </a:rPr>
              <a:t>CLIENT TESTIMONIALS</a:t>
            </a:r>
            <a:endParaRPr lang="en-US" sz="1000" dirty="0"/>
          </a:p>
        </p:txBody>
      </p:sp>
      <p:sp>
        <p:nvSpPr>
          <p:cNvPr id="6" name="Text 2"/>
          <p:cNvSpPr/>
          <p:nvPr/>
        </p:nvSpPr>
        <p:spPr>
          <a:xfrm>
            <a:off x="661475" y="895846"/>
            <a:ext cx="10868745" cy="372170"/>
          </a:xfrm>
          <a:prstGeom prst="rect">
            <a:avLst/>
          </a:prstGeom>
          <a:noFill/>
          <a:ln/>
        </p:spPr>
        <p:txBody>
          <a:bodyPr wrap="none" lIns="0" tIns="0" rIns="0" bIns="0" rtlCol="0" anchor="t"/>
          <a:lstStyle/>
          <a:p>
            <a:pPr marL="0" indent="0" algn="l">
              <a:lnSpc>
                <a:spcPct val="83000"/>
              </a:lnSpc>
              <a:buNone/>
            </a:pPr>
            <a:r>
              <a:rPr lang="en-US" sz="2900" dirty="0">
                <a:solidFill>
                  <a:srgbClr val="FFFFFF"/>
                </a:solidFill>
                <a:latin typeface="Space Grotesk Medium" pitchFamily="34" charset="0"/>
                <a:ea typeface="Space Grotesk Medium" pitchFamily="34" charset="-122"/>
                <a:cs typeface="Space Grotesk Medium" pitchFamily="34" charset="-120"/>
              </a:rPr>
              <a:t>What Our Clients Say</a:t>
            </a:r>
            <a:endParaRPr lang="en-US" sz="2900" dirty="0"/>
          </a:p>
        </p:txBody>
      </p:sp>
      <p:sp>
        <p:nvSpPr>
          <p:cNvPr id="7" name="Text 3"/>
          <p:cNvSpPr/>
          <p:nvPr/>
        </p:nvSpPr>
        <p:spPr>
          <a:xfrm>
            <a:off x="661475" y="1516062"/>
            <a:ext cx="10868745" cy="1116211"/>
          </a:xfrm>
          <a:prstGeom prst="rect">
            <a:avLst/>
          </a:prstGeom>
          <a:noFill/>
          <a:ln/>
        </p:spPr>
        <p:txBody>
          <a:bodyPr wrap="square" lIns="0" tIns="0" rIns="0" bIns="0" rtlCol="0" anchor="t"/>
          <a:lstStyle/>
          <a:p>
            <a:pPr marL="0" indent="0" algn="l">
              <a:lnSpc>
                <a:spcPct val="125000"/>
              </a:lnSpc>
              <a:spcAft>
                <a:spcPts val="1450"/>
              </a:spcAft>
              <a:buNone/>
            </a:pPr>
            <a:endParaRPr lang="en-US" sz="1300" dirty="0"/>
          </a:p>
          <a:p>
            <a:pPr marL="0" indent="0" algn="l">
              <a:lnSpc>
                <a:spcPct val="125000"/>
              </a:lnSpc>
              <a:spcAft>
                <a:spcPts val="1450"/>
              </a:spcAft>
              <a:buNone/>
            </a:pPr>
            <a:endParaRPr lang="en-US" sz="1300" dirty="0"/>
          </a:p>
        </p:txBody>
      </p:sp>
      <p:sp>
        <p:nvSpPr>
          <p:cNvPr id="8" name="Shape 4"/>
          <p:cNvSpPr/>
          <p:nvPr/>
        </p:nvSpPr>
        <p:spPr>
          <a:xfrm>
            <a:off x="661475" y="2818309"/>
            <a:ext cx="3512653" cy="3461345"/>
          </a:xfrm>
          <a:prstGeom prst="roundRect">
            <a:avLst>
              <a:gd name="adj" fmla="val 4300"/>
            </a:avLst>
          </a:prstGeom>
          <a:solidFill>
            <a:srgbClr val="0F1416"/>
          </a:solidFill>
          <a:ln w="19050">
            <a:solidFill>
              <a:srgbClr val="42A1AD"/>
            </a:solidFill>
            <a:prstDash val="solid"/>
          </a:ln>
        </p:spPr>
      </p:sp>
      <p:pic>
        <p:nvPicPr>
          <p:cNvPr id="9" name="Image 1" descr="preencoded.png"/>
          <p:cNvPicPr>
            <a:picLocks noChangeAspect="1"/>
          </p:cNvPicPr>
          <p:nvPr/>
        </p:nvPicPr>
        <p:blipFill>
          <a:blip r:embed="rId4"/>
          <a:stretch>
            <a:fillRect/>
          </a:stretch>
        </p:blipFill>
        <p:spPr>
          <a:xfrm>
            <a:off x="581308" y="2738140"/>
            <a:ext cx="198433" cy="198438"/>
          </a:xfrm>
          <a:prstGeom prst="rect">
            <a:avLst/>
          </a:prstGeom>
        </p:spPr>
      </p:pic>
      <p:pic>
        <p:nvPicPr>
          <p:cNvPr id="10" name="Image 2" descr="preencoded.png"/>
          <p:cNvPicPr>
            <a:picLocks noChangeAspect="1"/>
          </p:cNvPicPr>
          <p:nvPr/>
        </p:nvPicPr>
        <p:blipFill>
          <a:blip r:embed="rId5"/>
          <a:stretch>
            <a:fillRect/>
          </a:stretch>
        </p:blipFill>
        <p:spPr>
          <a:xfrm>
            <a:off x="4055862" y="6161385"/>
            <a:ext cx="198433" cy="198438"/>
          </a:xfrm>
          <a:prstGeom prst="rect">
            <a:avLst/>
          </a:prstGeom>
        </p:spPr>
      </p:pic>
      <p:sp>
        <p:nvSpPr>
          <p:cNvPr id="11" name="Text 5"/>
          <p:cNvSpPr/>
          <p:nvPr/>
        </p:nvSpPr>
        <p:spPr>
          <a:xfrm>
            <a:off x="928565" y="3085405"/>
            <a:ext cx="2978472" cy="2182813"/>
          </a:xfrm>
          <a:prstGeom prst="rect">
            <a:avLst/>
          </a:prstGeom>
          <a:noFill/>
          <a:ln/>
        </p:spPr>
        <p:txBody>
          <a:bodyPr wrap="square" lIns="0" tIns="0" rIns="0" bIns="0" rtlCol="0" anchor="t">
            <a:normAutofit lnSpcReduction="10000"/>
          </a:bodyPr>
          <a:lstStyle/>
          <a:p>
            <a:pPr marL="0" indent="0" algn="l">
              <a:lnSpc>
                <a:spcPct val="125000"/>
              </a:lnSpc>
              <a:spcAft>
                <a:spcPts val="750"/>
              </a:spcAft>
              <a:buNone/>
            </a:pPr>
            <a:r>
              <a:rPr lang="en-US" sz="1300" i="1" dirty="0">
                <a:solidFill>
                  <a:srgbClr val="CFCFCF"/>
                </a:solidFill>
                <a:latin typeface="Source Sans 3" pitchFamily="34" charset="0"/>
                <a:ea typeface="Source Sans 3" pitchFamily="34" charset="-122"/>
                <a:cs typeface="Source Sans 3" pitchFamily="34" charset="-120"/>
              </a:rPr>
              <a:t>"The EMM platform transformed how we manage our mobile devices. What used to take our IT team 340 hours per month is now automated. We went from 87% unmanaged devices to 100% visibility and control in just 16 weeks."</a:t>
            </a:r>
            <a:endParaRPr lang="en-US" sz="1300" dirty="0"/>
          </a:p>
          <a:p>
            <a:pPr marL="0" indent="0" algn="l">
              <a:lnSpc>
                <a:spcPct val="125000"/>
              </a:lnSpc>
              <a:spcAft>
                <a:spcPts val="750"/>
              </a:spcAft>
              <a:buNone/>
            </a:pPr>
            <a:endParaRPr lang="en-US" sz="1300" dirty="0"/>
          </a:p>
          <a:p>
            <a:pPr marL="0" indent="0" algn="l">
              <a:lnSpc>
                <a:spcPct val="125000"/>
              </a:lnSpc>
              <a:buNone/>
            </a:pPr>
            <a:r>
              <a:rPr lang="en-US" sz="1300" b="1" dirty="0">
                <a:solidFill>
                  <a:srgbClr val="42A1AD"/>
                </a:solidFill>
                <a:latin typeface="Source Sans 3 Bold" pitchFamily="34" charset="0"/>
                <a:ea typeface="Source Sans 3 Bold" pitchFamily="34" charset="-122"/>
                <a:cs typeface="Source Sans 3 Bold" pitchFamily="34" charset="-120"/>
              </a:rPr>
              <a:t>Sarah Chen</a:t>
            </a:r>
            <a:endParaRPr lang="en-US" sz="1300" dirty="0"/>
          </a:p>
        </p:txBody>
      </p:sp>
      <p:sp>
        <p:nvSpPr>
          <p:cNvPr id="12" name="Text 6"/>
          <p:cNvSpPr/>
          <p:nvPr/>
        </p:nvSpPr>
        <p:spPr>
          <a:xfrm>
            <a:off x="928565" y="5367437"/>
            <a:ext cx="2978472" cy="198537"/>
          </a:xfrm>
          <a:prstGeom prst="rect">
            <a:avLst/>
          </a:prstGeom>
          <a:noFill/>
          <a:ln/>
        </p:spPr>
        <p:txBody>
          <a:bodyPr wrap="none" lIns="0" tIns="0" rIns="0" bIns="0" rtlCol="0" anchor="t"/>
          <a:lstStyle/>
          <a:p>
            <a:pPr marL="0" indent="0" algn="l">
              <a:lnSpc>
                <a:spcPct val="125000"/>
              </a:lnSpc>
              <a:buNone/>
            </a:pPr>
            <a:r>
              <a:rPr lang="en-US" sz="1000" dirty="0">
                <a:solidFill>
                  <a:srgbClr val="CFCFCF"/>
                </a:solidFill>
                <a:latin typeface="Source Sans 3" pitchFamily="34" charset="0"/>
                <a:ea typeface="Source Sans 3" pitchFamily="34" charset="-122"/>
                <a:cs typeface="Source Sans 3" pitchFamily="34" charset="-120"/>
              </a:rPr>
              <a:t>VP of IT Operations, Global EMM Corporation</a:t>
            </a:r>
            <a:endParaRPr lang="en-US" sz="1000" dirty="0"/>
          </a:p>
        </p:txBody>
      </p:sp>
      <p:sp>
        <p:nvSpPr>
          <p:cNvPr id="13" name="Shape 7"/>
          <p:cNvSpPr/>
          <p:nvPr/>
        </p:nvSpPr>
        <p:spPr>
          <a:xfrm>
            <a:off x="4339422" y="2818309"/>
            <a:ext cx="3512752" cy="3461345"/>
          </a:xfrm>
          <a:prstGeom prst="roundRect">
            <a:avLst>
              <a:gd name="adj" fmla="val 4300"/>
            </a:avLst>
          </a:prstGeom>
          <a:solidFill>
            <a:srgbClr val="0F1416"/>
          </a:solidFill>
          <a:ln w="19050">
            <a:solidFill>
              <a:srgbClr val="42A1AD"/>
            </a:solidFill>
            <a:prstDash val="solid"/>
          </a:ln>
        </p:spPr>
      </p:sp>
      <p:pic>
        <p:nvPicPr>
          <p:cNvPr id="14" name="Image 3" descr="preencoded.png"/>
          <p:cNvPicPr>
            <a:picLocks noChangeAspect="1"/>
          </p:cNvPicPr>
          <p:nvPr/>
        </p:nvPicPr>
        <p:blipFill>
          <a:blip r:embed="rId4"/>
          <a:stretch>
            <a:fillRect/>
          </a:stretch>
        </p:blipFill>
        <p:spPr>
          <a:xfrm>
            <a:off x="4259255" y="2738140"/>
            <a:ext cx="198433" cy="198438"/>
          </a:xfrm>
          <a:prstGeom prst="rect">
            <a:avLst/>
          </a:prstGeom>
        </p:spPr>
      </p:pic>
      <p:pic>
        <p:nvPicPr>
          <p:cNvPr id="15" name="Image 4" descr="preencoded.png"/>
          <p:cNvPicPr>
            <a:picLocks noChangeAspect="1"/>
          </p:cNvPicPr>
          <p:nvPr/>
        </p:nvPicPr>
        <p:blipFill>
          <a:blip r:embed="rId5"/>
          <a:stretch>
            <a:fillRect/>
          </a:stretch>
        </p:blipFill>
        <p:spPr>
          <a:xfrm>
            <a:off x="7733908" y="6161385"/>
            <a:ext cx="198433" cy="198438"/>
          </a:xfrm>
          <a:prstGeom prst="rect">
            <a:avLst/>
          </a:prstGeom>
        </p:spPr>
      </p:pic>
      <p:sp>
        <p:nvSpPr>
          <p:cNvPr id="16" name="Text 8"/>
          <p:cNvSpPr/>
          <p:nvPr/>
        </p:nvSpPr>
        <p:spPr>
          <a:xfrm>
            <a:off x="4606512" y="3085405"/>
            <a:ext cx="2978572" cy="2430859"/>
          </a:xfrm>
          <a:prstGeom prst="rect">
            <a:avLst/>
          </a:prstGeom>
          <a:noFill/>
          <a:ln/>
        </p:spPr>
        <p:txBody>
          <a:bodyPr wrap="square" lIns="0" tIns="0" rIns="0" bIns="0" rtlCol="0" anchor="t">
            <a:normAutofit lnSpcReduction="10000"/>
          </a:bodyPr>
          <a:lstStyle/>
          <a:p>
            <a:pPr marL="0" indent="0" algn="l">
              <a:lnSpc>
                <a:spcPct val="125000"/>
              </a:lnSpc>
              <a:spcAft>
                <a:spcPts val="750"/>
              </a:spcAft>
              <a:buNone/>
            </a:pPr>
            <a:r>
              <a:rPr lang="en-US" sz="1300" i="1" dirty="0">
                <a:solidFill>
                  <a:srgbClr val="CFCFCF"/>
                </a:solidFill>
                <a:latin typeface="Source Sans 3" pitchFamily="34" charset="0"/>
                <a:ea typeface="Source Sans 3" pitchFamily="34" charset="-122"/>
                <a:cs typeface="Source Sans 3" pitchFamily="34" charset="-120"/>
              </a:rPr>
              <a:t>"Our field teams now have secure access to critical business applications with real-time location tracking and geofencing. The platform's flexibility for BYOD and corporate devices means we can support any employee scenario without compromising security."</a:t>
            </a:r>
            <a:endParaRPr lang="en-US" sz="1300" dirty="0"/>
          </a:p>
          <a:p>
            <a:pPr marL="0" indent="0" algn="l">
              <a:lnSpc>
                <a:spcPct val="125000"/>
              </a:lnSpc>
              <a:spcAft>
                <a:spcPts val="750"/>
              </a:spcAft>
              <a:buNone/>
            </a:pPr>
            <a:endParaRPr lang="en-US" sz="1300" dirty="0"/>
          </a:p>
          <a:p>
            <a:pPr marL="0" indent="0" algn="l">
              <a:lnSpc>
                <a:spcPct val="125000"/>
              </a:lnSpc>
              <a:buNone/>
            </a:pPr>
            <a:r>
              <a:rPr lang="en-US" sz="1300" b="1" dirty="0">
                <a:solidFill>
                  <a:srgbClr val="42A1AD"/>
                </a:solidFill>
                <a:latin typeface="Source Sans 3 Bold" pitchFamily="34" charset="0"/>
                <a:ea typeface="Source Sans 3 Bold" pitchFamily="34" charset="-122"/>
                <a:cs typeface="Source Sans 3 Bold" pitchFamily="34" charset="-120"/>
              </a:rPr>
              <a:t>Marcus Rodriguez</a:t>
            </a:r>
            <a:endParaRPr lang="en-US" sz="1300" dirty="0"/>
          </a:p>
        </p:txBody>
      </p:sp>
      <p:sp>
        <p:nvSpPr>
          <p:cNvPr id="17" name="Text 9"/>
          <p:cNvSpPr/>
          <p:nvPr/>
        </p:nvSpPr>
        <p:spPr>
          <a:xfrm>
            <a:off x="4606512" y="5615484"/>
            <a:ext cx="2978572" cy="397073"/>
          </a:xfrm>
          <a:prstGeom prst="rect">
            <a:avLst/>
          </a:prstGeom>
          <a:noFill/>
          <a:ln/>
        </p:spPr>
        <p:txBody>
          <a:bodyPr wrap="square" lIns="0" tIns="0" rIns="0" bIns="0" rtlCol="0" anchor="t">
            <a:normAutofit/>
          </a:bodyPr>
          <a:lstStyle/>
          <a:p>
            <a:pPr marL="0" indent="0" algn="l">
              <a:lnSpc>
                <a:spcPct val="125000"/>
              </a:lnSpc>
              <a:buNone/>
            </a:pPr>
            <a:r>
              <a:rPr lang="en-US" sz="1000" dirty="0">
                <a:solidFill>
                  <a:srgbClr val="CFCFCF"/>
                </a:solidFill>
                <a:latin typeface="Source Sans 3" pitchFamily="34" charset="0"/>
                <a:ea typeface="Source Sans 3" pitchFamily="34" charset="-122"/>
                <a:cs typeface="Source Sans 3" pitchFamily="34" charset="-120"/>
              </a:rPr>
              <a:t>Chief Information Security Officer, Global EMM Corporation</a:t>
            </a:r>
            <a:endParaRPr lang="en-US" sz="1000" dirty="0"/>
          </a:p>
        </p:txBody>
      </p:sp>
      <p:sp>
        <p:nvSpPr>
          <p:cNvPr id="18" name="Shape 10"/>
          <p:cNvSpPr/>
          <p:nvPr/>
        </p:nvSpPr>
        <p:spPr>
          <a:xfrm>
            <a:off x="8017468" y="2818309"/>
            <a:ext cx="3512653" cy="3461345"/>
          </a:xfrm>
          <a:prstGeom prst="roundRect">
            <a:avLst>
              <a:gd name="adj" fmla="val 4300"/>
            </a:avLst>
          </a:prstGeom>
          <a:solidFill>
            <a:srgbClr val="0F1416"/>
          </a:solidFill>
          <a:ln w="19050">
            <a:solidFill>
              <a:srgbClr val="42A1AD"/>
            </a:solidFill>
            <a:prstDash val="solid"/>
          </a:ln>
        </p:spPr>
      </p:sp>
      <p:pic>
        <p:nvPicPr>
          <p:cNvPr id="19" name="Image 5" descr="preencoded.png"/>
          <p:cNvPicPr>
            <a:picLocks noChangeAspect="1"/>
          </p:cNvPicPr>
          <p:nvPr/>
        </p:nvPicPr>
        <p:blipFill>
          <a:blip r:embed="rId4"/>
          <a:stretch>
            <a:fillRect/>
          </a:stretch>
        </p:blipFill>
        <p:spPr>
          <a:xfrm>
            <a:off x="7937301" y="2738140"/>
            <a:ext cx="198433" cy="198438"/>
          </a:xfrm>
          <a:prstGeom prst="rect">
            <a:avLst/>
          </a:prstGeom>
        </p:spPr>
      </p:pic>
      <p:pic>
        <p:nvPicPr>
          <p:cNvPr id="20" name="Image 6" descr="preencoded.png"/>
          <p:cNvPicPr>
            <a:picLocks noChangeAspect="1"/>
          </p:cNvPicPr>
          <p:nvPr/>
        </p:nvPicPr>
        <p:blipFill>
          <a:blip r:embed="rId5"/>
          <a:stretch>
            <a:fillRect/>
          </a:stretch>
        </p:blipFill>
        <p:spPr>
          <a:xfrm>
            <a:off x="11411855" y="6161385"/>
            <a:ext cx="198433" cy="198438"/>
          </a:xfrm>
          <a:prstGeom prst="rect">
            <a:avLst/>
          </a:prstGeom>
        </p:spPr>
      </p:pic>
      <p:sp>
        <p:nvSpPr>
          <p:cNvPr id="21" name="Text 11"/>
          <p:cNvSpPr/>
          <p:nvPr/>
        </p:nvSpPr>
        <p:spPr>
          <a:xfrm>
            <a:off x="8284558" y="3085405"/>
            <a:ext cx="2978472" cy="2430859"/>
          </a:xfrm>
          <a:prstGeom prst="rect">
            <a:avLst/>
          </a:prstGeom>
          <a:noFill/>
          <a:ln/>
        </p:spPr>
        <p:txBody>
          <a:bodyPr wrap="square" lIns="0" tIns="0" rIns="0" bIns="0" rtlCol="0" anchor="t">
            <a:normAutofit lnSpcReduction="10000"/>
          </a:bodyPr>
          <a:lstStyle/>
          <a:p>
            <a:pPr marL="0" indent="0" algn="l">
              <a:lnSpc>
                <a:spcPct val="125000"/>
              </a:lnSpc>
              <a:spcAft>
                <a:spcPts val="750"/>
              </a:spcAft>
              <a:buNone/>
            </a:pPr>
            <a:r>
              <a:rPr lang="en-US" sz="1300" i="1" dirty="0">
                <a:solidFill>
                  <a:srgbClr val="CFCFCF"/>
                </a:solidFill>
                <a:latin typeface="Source Sans 3" pitchFamily="34" charset="0"/>
                <a:ea typeface="Source Sans 3" pitchFamily="34" charset="-122"/>
                <a:cs typeface="Source Sans 3" pitchFamily="34" charset="-120"/>
              </a:rPr>
              <a:t>"The enrollment experience is seamless. Our employees can get their devices set up in 15 minutes instead of waiting for IT support. The automated compliance monitoring gives us confidence that we're meeting all regulatory requirements across our global operations."</a:t>
            </a:r>
            <a:endParaRPr lang="en-US" sz="1300" dirty="0"/>
          </a:p>
          <a:p>
            <a:pPr marL="0" indent="0" algn="l">
              <a:lnSpc>
                <a:spcPct val="125000"/>
              </a:lnSpc>
              <a:spcAft>
                <a:spcPts val="750"/>
              </a:spcAft>
              <a:buNone/>
            </a:pPr>
            <a:endParaRPr lang="en-US" sz="1300" dirty="0"/>
          </a:p>
          <a:p>
            <a:pPr marL="0" indent="0" algn="l">
              <a:lnSpc>
                <a:spcPct val="125000"/>
              </a:lnSpc>
              <a:buNone/>
            </a:pPr>
            <a:r>
              <a:rPr lang="en-US" sz="1300" b="1" dirty="0">
                <a:solidFill>
                  <a:srgbClr val="42A1AD"/>
                </a:solidFill>
                <a:latin typeface="Source Sans 3 Bold" pitchFamily="34" charset="0"/>
                <a:ea typeface="Source Sans 3 Bold" pitchFamily="34" charset="-122"/>
                <a:cs typeface="Source Sans 3 Bold" pitchFamily="34" charset="-120"/>
              </a:rPr>
              <a:t>Jennifer Park</a:t>
            </a:r>
            <a:endParaRPr lang="en-US" sz="1300" dirty="0"/>
          </a:p>
        </p:txBody>
      </p:sp>
      <p:sp>
        <p:nvSpPr>
          <p:cNvPr id="22" name="Text 12"/>
          <p:cNvSpPr/>
          <p:nvPr/>
        </p:nvSpPr>
        <p:spPr>
          <a:xfrm>
            <a:off x="8284558" y="5615484"/>
            <a:ext cx="2978472" cy="397073"/>
          </a:xfrm>
          <a:prstGeom prst="rect">
            <a:avLst/>
          </a:prstGeom>
          <a:noFill/>
          <a:ln/>
        </p:spPr>
        <p:txBody>
          <a:bodyPr wrap="square" lIns="0" tIns="0" rIns="0" bIns="0" rtlCol="0" anchor="t">
            <a:normAutofit/>
          </a:bodyPr>
          <a:lstStyle/>
          <a:p>
            <a:pPr marL="0" indent="0" algn="l">
              <a:lnSpc>
                <a:spcPct val="125000"/>
              </a:lnSpc>
              <a:buNone/>
            </a:pPr>
            <a:r>
              <a:rPr lang="en-US" sz="1000" dirty="0">
                <a:solidFill>
                  <a:srgbClr val="CFCFCF"/>
                </a:solidFill>
                <a:latin typeface="Source Sans 3" pitchFamily="34" charset="0"/>
                <a:ea typeface="Source Sans 3" pitchFamily="34" charset="-122"/>
                <a:cs typeface="Source Sans 3" pitchFamily="34" charset="-120"/>
              </a:rPr>
              <a:t>Director of Enterprise Mobility, Global EMM Corporation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828899"/>
            <a:ext cx="11478330" cy="248047"/>
          </a:xfrm>
          <a:prstGeom prst="rect">
            <a:avLst/>
          </a:prstGeom>
          <a:noFill/>
          <a:ln/>
        </p:spPr>
        <p:txBody>
          <a:bodyPr wrap="none" lIns="0" tIns="0" rIns="0" bIns="0" rtlCol="0" anchor="t"/>
          <a:lstStyle/>
          <a:p>
            <a:pPr marL="0" indent="0" algn="l">
              <a:lnSpc>
                <a:spcPct val="125000"/>
              </a:lnSpc>
              <a:buNone/>
            </a:pPr>
            <a:endParaRPr lang="en-US" sz="1300" dirty="0"/>
          </a:p>
        </p:txBody>
      </p:sp>
      <p:pic>
        <p:nvPicPr>
          <p:cNvPr id="3"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4" name="Text 0"/>
          <p:cNvSpPr/>
          <p:nvPr/>
        </p:nvSpPr>
        <p:spPr>
          <a:xfrm>
            <a:off x="661475" y="1082377"/>
            <a:ext cx="6296860" cy="372170"/>
          </a:xfrm>
          <a:prstGeom prst="rect">
            <a:avLst/>
          </a:prstGeom>
          <a:noFill/>
          <a:ln/>
        </p:spPr>
        <p:txBody>
          <a:bodyPr wrap="none" lIns="0" tIns="0" rIns="0" bIns="0" rtlCol="0" anchor="t"/>
          <a:lstStyle/>
          <a:p>
            <a:pPr marL="0" indent="0" algn="l">
              <a:lnSpc>
                <a:spcPct val="83000"/>
              </a:lnSpc>
              <a:buNone/>
            </a:pPr>
            <a:r>
              <a:rPr lang="en-US" sz="2900" dirty="0">
                <a:solidFill>
                  <a:srgbClr val="FFFFFF"/>
                </a:solidFill>
                <a:latin typeface="Space Grotesk Medium" pitchFamily="34" charset="0"/>
                <a:ea typeface="Space Grotesk Medium" pitchFamily="34" charset="-122"/>
                <a:cs typeface="Space Grotesk Medium" pitchFamily="34" charset="-120"/>
              </a:rPr>
              <a:t>Let's Connect</a:t>
            </a:r>
            <a:endParaRPr lang="en-US" sz="2900" dirty="0"/>
          </a:p>
        </p:txBody>
      </p:sp>
      <p:sp>
        <p:nvSpPr>
          <p:cNvPr id="5" name="Text 1"/>
          <p:cNvSpPr/>
          <p:nvPr/>
        </p:nvSpPr>
        <p:spPr>
          <a:xfrm>
            <a:off x="661475" y="1520627"/>
            <a:ext cx="6296860" cy="297755"/>
          </a:xfrm>
          <a:prstGeom prst="rect">
            <a:avLst/>
          </a:prstGeom>
          <a:noFill/>
          <a:ln/>
        </p:spPr>
        <p:txBody>
          <a:bodyPr wrap="none" lIns="0" tIns="0" rIns="0" bIns="0" rtlCol="0" anchor="t"/>
          <a:lstStyle/>
          <a:p>
            <a:pPr marL="0" indent="0" algn="l">
              <a:lnSpc>
                <a:spcPct val="83000"/>
              </a:lnSpc>
              <a:buNone/>
            </a:pPr>
            <a:r>
              <a:rPr lang="en-US" sz="2300" dirty="0">
                <a:solidFill>
                  <a:srgbClr val="FFFFFF"/>
                </a:solidFill>
                <a:latin typeface="Space Grotesk Medium" pitchFamily="34" charset="0"/>
                <a:ea typeface="Space Grotesk Medium" pitchFamily="34" charset="-122"/>
                <a:cs typeface="Space Grotesk Medium" pitchFamily="34" charset="-120"/>
              </a:rPr>
              <a:t>Ready to Transform Your Operations?</a:t>
            </a:r>
            <a:endParaRPr lang="en-US" sz="2300" dirty="0"/>
          </a:p>
        </p:txBody>
      </p:sp>
      <p:sp>
        <p:nvSpPr>
          <p:cNvPr id="6" name="Text 2"/>
          <p:cNvSpPr/>
          <p:nvPr/>
        </p:nvSpPr>
        <p:spPr>
          <a:xfrm>
            <a:off x="661475" y="2066429"/>
            <a:ext cx="6296860" cy="2480469"/>
          </a:xfrm>
          <a:prstGeom prst="rect">
            <a:avLst/>
          </a:prstGeom>
          <a:noFill/>
          <a:ln/>
        </p:spPr>
        <p:txBody>
          <a:bodyPr wrap="square" lIns="0" tIns="0" rIns="0" bIns="0" rtlCol="0" anchor="t">
            <a:normAutofit/>
          </a:bodyPr>
          <a:lstStyle/>
          <a:p>
            <a:pPr marL="0" indent="0" algn="l">
              <a:lnSpc>
                <a:spcPct val="125000"/>
              </a:lnSpc>
              <a:spcAft>
                <a:spcPts val="1450"/>
              </a:spcAft>
              <a:buNone/>
            </a:pPr>
            <a:r>
              <a:rPr lang="en-US" sz="1300" dirty="0">
                <a:solidFill>
                  <a:srgbClr val="CFCFCF"/>
                </a:solidFill>
                <a:latin typeface="Source Sans 3" pitchFamily="34" charset="0"/>
                <a:ea typeface="Source Sans 3" pitchFamily="34" charset="-122"/>
                <a:cs typeface="Source Sans 3" pitchFamily="34" charset="-120"/>
              </a:rPr>
              <a:t>Join hundreds of organizations who have already discovered the power of our solution. Start your journey today with a free consultation or trial—no obligations, no hidden commitments.</a:t>
            </a:r>
            <a:endParaRPr lang="en-US" sz="1300" dirty="0"/>
          </a:p>
          <a:p>
            <a:pPr marL="0" indent="0" algn="l">
              <a:lnSpc>
                <a:spcPct val="125000"/>
              </a:lnSpc>
              <a:spcAft>
                <a:spcPts val="1450"/>
              </a:spcAft>
              <a:buNone/>
            </a:pPr>
            <a:endParaRPr lang="en-US" sz="1300" dirty="0"/>
          </a:p>
          <a:p>
            <a:pPr marL="0" indent="0" algn="l">
              <a:lnSpc>
                <a:spcPct val="125000"/>
              </a:lnSpc>
              <a:spcAft>
                <a:spcPts val="1450"/>
              </a:spcAft>
              <a:buNone/>
            </a:pPr>
            <a:endParaRPr lang="en-US" sz="1300" dirty="0"/>
          </a:p>
          <a:p>
            <a:pPr marL="0" indent="0" algn="l">
              <a:lnSpc>
                <a:spcPct val="125000"/>
              </a:lnSpc>
              <a:spcAft>
                <a:spcPts val="1450"/>
              </a:spcAft>
              <a:buNone/>
            </a:pPr>
            <a:endParaRPr lang="en-US" sz="1300" dirty="0"/>
          </a:p>
        </p:txBody>
      </p:sp>
      <p:sp>
        <p:nvSpPr>
          <p:cNvPr id="7" name="Text 3"/>
          <p:cNvSpPr/>
          <p:nvPr/>
        </p:nvSpPr>
        <p:spPr>
          <a:xfrm>
            <a:off x="661475" y="4794945"/>
            <a:ext cx="6296860" cy="223242"/>
          </a:xfrm>
          <a:prstGeom prst="rect">
            <a:avLst/>
          </a:prstGeom>
          <a:noFill/>
          <a:ln/>
        </p:spPr>
        <p:txBody>
          <a:bodyPr wrap="none" lIns="0" tIns="0" rIns="0" bIns="0" rtlCol="0" anchor="t"/>
          <a:lstStyle/>
          <a:p>
            <a:pPr marL="0" indent="0" algn="l">
              <a:lnSpc>
                <a:spcPct val="83000"/>
              </a:lnSpc>
              <a:buNone/>
            </a:pPr>
            <a:r>
              <a:rPr lang="en-US" sz="1750" dirty="0">
                <a:solidFill>
                  <a:srgbClr val="42A1AD"/>
                </a:solidFill>
                <a:latin typeface="Space Grotesk Medium" pitchFamily="34" charset="0"/>
                <a:ea typeface="Space Grotesk Medium" pitchFamily="34" charset="-122"/>
                <a:cs typeface="Space Grotesk Medium" pitchFamily="34" charset="-120"/>
              </a:rPr>
              <a:t>Prefer a personalized discussion? </a:t>
            </a:r>
            <a:endParaRPr lang="en-US" sz="1750" dirty="0"/>
          </a:p>
        </p:txBody>
      </p:sp>
      <p:sp>
        <p:nvSpPr>
          <p:cNvPr id="8" name="Text 4"/>
          <p:cNvSpPr/>
          <p:nvPr/>
        </p:nvSpPr>
        <p:spPr>
          <a:xfrm>
            <a:off x="661475" y="5266234"/>
            <a:ext cx="6296860" cy="496094"/>
          </a:xfrm>
          <a:prstGeom prst="rect">
            <a:avLst/>
          </a:prstGeom>
          <a:noFill/>
          <a:ln/>
        </p:spPr>
        <p:txBody>
          <a:bodyPr wrap="square" lIns="0" tIns="0" rIns="0" bIns="0" rtlCol="0" anchor="t">
            <a:normAutofit/>
          </a:bodyPr>
          <a:lstStyle/>
          <a:p>
            <a:pPr marL="0" indent="0" algn="l">
              <a:lnSpc>
                <a:spcPct val="125000"/>
              </a:lnSpc>
              <a:buNone/>
            </a:pPr>
            <a:r>
              <a:rPr lang="en-US" sz="1300" dirty="0">
                <a:solidFill>
                  <a:srgbClr val="CFCFCF"/>
                </a:solidFill>
                <a:latin typeface="Source Sans 3" pitchFamily="34" charset="0"/>
                <a:ea typeface="Source Sans 3" pitchFamily="34" charset="-122"/>
                <a:cs typeface="Source Sans 3" pitchFamily="34" charset="-120"/>
              </a:rPr>
              <a:t>Schedule a demo with one of our experts. We'll show you exactly how our solution addresses your specific challenges and answer all your questions.</a:t>
            </a:r>
            <a:endParaRPr lang="en-US" sz="1300" dirty="0"/>
          </a:p>
        </p:txBody>
      </p:sp>
      <p:pic>
        <p:nvPicPr>
          <p:cNvPr id="9" name="Image 1" descr="preencoded.png">
            <a:hlinkClick r:id=""/>
          </p:cNvPr>
          <p:cNvPicPr>
            <a:picLocks noChangeAspect="1"/>
          </p:cNvPicPr>
          <p:nvPr/>
        </p:nvPicPr>
        <p:blipFill>
          <a:blip r:embed="rId4"/>
          <a:stretch>
            <a:fillRect/>
          </a:stretch>
        </p:blipFill>
        <p:spPr>
          <a:xfrm>
            <a:off x="661475" y="5948363"/>
            <a:ext cx="1132355" cy="454819"/>
          </a:xfrm>
          <a:prstGeom prst="rect">
            <a:avLst/>
          </a:prstGeom>
        </p:spPr>
      </p:pic>
      <p:pic>
        <p:nvPicPr>
          <p:cNvPr id="10" name="Image 2" descr="preencoded.png">
            <a:hlinkClick r:id=""/>
          </p:cNvPr>
          <p:cNvPicPr>
            <a:picLocks noChangeAspect="1"/>
          </p:cNvPicPr>
          <p:nvPr/>
        </p:nvPicPr>
        <p:blipFill>
          <a:blip r:embed="rId5"/>
          <a:stretch>
            <a:fillRect/>
          </a:stretch>
        </p:blipFill>
        <p:spPr>
          <a:xfrm>
            <a:off x="1876477" y="5948363"/>
            <a:ext cx="1437148" cy="45481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1196</Words>
  <Application>Microsoft Office PowerPoint</Application>
  <PresentationFormat>Custom</PresentationFormat>
  <Paragraphs>135</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Calibri</vt:lpstr>
      <vt:lpstr>Space Grotesk Bold</vt:lpstr>
      <vt:lpstr>Source Sans 3</vt:lpstr>
      <vt:lpstr>Space Grotesk Medium</vt:lpstr>
      <vt:lpstr>Space Grotesk Light</vt:lpstr>
      <vt:lpstr>Source Sans 3 Bold</vt:lpstr>
      <vt:lpstr>Office Theme</vt:lpstr>
      <vt:lpstr>Slide 1</vt:lpstr>
      <vt:lpstr>Slide 2</vt:lpstr>
      <vt:lpstr>Slide 3</vt:lpstr>
      <vt:lpstr>Slide 4</vt:lpstr>
      <vt:lpstr>Slide 5</vt:lpstr>
      <vt:lpstr>Slide 6</vt:lpstr>
      <vt:lpstr>Slide 7</vt:lpstr>
      <vt:lpstr>Slide 8</vt:lpstr>
      <vt:lpstr>Slide 9</vt:lpstr>
      <vt:lpstr>Slide 10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Rajeshwer Mamidala</dc:creator>
  <cp:lastModifiedBy>Windows User</cp:lastModifiedBy>
  <cp:revision>11</cp:revision>
  <dcterms:created xsi:type="dcterms:W3CDTF">2026-08-20T08:53:01Z</dcterms:created>
  <dcterms:modified xsi:type="dcterms:W3CDTF">2026-08-20T09:17:17Z</dcterms:modified>
</cp:coreProperties>
</file>